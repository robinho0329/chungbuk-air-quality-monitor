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3" name="Shape 1"/>
          <p:cNvSpPr/>
          <p:nvPr/>
        </p:nvSpPr>
        <p:spPr>
          <a:xfrm>
            <a:off x="3246120" y="0"/>
            <a:ext cx="73152" cy="6858000"/>
          </a:xfrm>
          <a:prstGeom prst="rect">
            <a:avLst/>
          </a:prstGeom>
          <a:solidFill>
            <a:srgbClr val="1730A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86000"/>
            <a:ext cx="1143000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9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 QUALITY · SPC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749040" y="1417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4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PORTFOLIO  |  품질데이터 · SPC 엔지니어 (QC · API 생산관리)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749040" y="196596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충북권 산업단지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대기질 SPC 모니터링 시스템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767328" y="3886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통계적 공정관리(SPC) · 6시그마 DMAIC · 데이터 파이프라인 자동화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767328" y="4709160"/>
            <a:ext cx="7680960" cy="0"/>
          </a:xfrm>
          <a:prstGeom prst="line">
            <a:avLst/>
          </a:prstGeom>
          <a:noFill/>
          <a:ln w="19050">
            <a:solidFill>
              <a:srgbClr val="DCE3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67328" y="4892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기간  </a:t>
            </a:r>
            <a:pPr indent="0" marL="0">
              <a:buNone/>
            </a:pPr>
            <a:r>
              <a:rPr lang="en-US" sz="12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2026.02.28 ~ 2026.06.16</a:t>
            </a:r>
            <a:pPr indent="0" marL="0">
              <a:buNone/>
            </a:pPr>
            <a:r>
              <a:rPr lang="en-US" sz="125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누적  </a:t>
            </a:r>
            <a:pPr indent="0" marL="0">
              <a:buNone/>
            </a:pPr>
            <a:r>
              <a:rPr lang="en-US" sz="12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12,835건 · 측정소 5곳 · 1시간 해상도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767328" y="5532120"/>
            <a:ext cx="1280160" cy="420624"/>
          </a:xfrm>
          <a:prstGeom prst="roundRect">
            <a:avLst>
              <a:gd name="adj" fmla="val 50000"/>
            </a:avLst>
          </a:prstGeom>
          <a:solidFill>
            <a:srgbClr val="1F40E6"/>
          </a:solidFill>
          <a:ln/>
        </p:spPr>
      </p:sp>
      <p:sp>
        <p:nvSpPr>
          <p:cNvPr id="12" name="Text 9"/>
          <p:cNvSpPr/>
          <p:nvPr/>
        </p:nvSpPr>
        <p:spPr>
          <a:xfrm>
            <a:off x="3767328" y="553212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유호빈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212080" y="553212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프로젝트  ·  github.com/robinho0329/chungbuk-air-quality-monitor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097280"/>
            <a:ext cx="64008" cy="237744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607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DMAIC 흐름으로 본 프로젝트 구성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16712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F40E6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1671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37360" y="2185416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737360" y="25877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산단 대기질 vs 거주지, SPC 상시 감시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401568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3694176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F40E6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6941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37360" y="3712464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시스템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737360" y="41148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지표·측정소, 무중단 수집 아키텍처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928616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5221224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F40E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522122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37360" y="523951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수집·점검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37360" y="56418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108일 누적, 결측·이상치 점검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1874520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11112" y="216712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F40E6"/>
          </a:solidFill>
          <a:ln/>
        </p:spPr>
      </p:sp>
      <p:sp>
        <p:nvSpPr>
          <p:cNvPr id="23" name="Text 21"/>
          <p:cNvSpPr/>
          <p:nvPr/>
        </p:nvSpPr>
        <p:spPr>
          <a:xfrm>
            <a:off x="6611112" y="21671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452360" y="2185416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기준 설정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452360" y="25877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전통 관리도 vs 자기상관 보정 잔차 관리도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3401568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11112" y="3694176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F40E6"/>
          </a:solidFill>
          <a:ln/>
        </p:spPr>
      </p:sp>
      <p:sp>
        <p:nvSpPr>
          <p:cNvPr id="28" name="Text 26"/>
          <p:cNvSpPr/>
          <p:nvPr/>
        </p:nvSpPr>
        <p:spPr>
          <a:xfrm>
            <a:off x="6611112" y="36941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52360" y="3712464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 분석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452360" y="41148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Cp/Cpk · 잔차 관리도 · 단지 비교 검정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55080" y="4928616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11112" y="5221224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F40E6"/>
          </a:solidFill>
          <a:ln/>
        </p:spPr>
      </p:sp>
      <p:sp>
        <p:nvSpPr>
          <p:cNvPr id="33" name="Text 31"/>
          <p:cNvSpPr/>
          <p:nvPr/>
        </p:nvSpPr>
        <p:spPr>
          <a:xfrm>
            <a:off x="6611112" y="522122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452360" y="523951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이상탐지·알림 · 현업 전이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452360" y="56418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 Rules·IForest·Discord → GMP 품질관리 전이·결론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320272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배경 &amp; 동기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950976"/>
            <a:ext cx="64008" cy="237744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 분석을 시작했는가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EEF1FB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536192"/>
            <a:ext cx="1874520" cy="329184"/>
          </a:xfrm>
          <a:prstGeom prst="roundRect">
            <a:avLst>
              <a:gd name="adj" fmla="val 50000"/>
            </a:avLst>
          </a:prstGeom>
          <a:solidFill>
            <a:srgbClr val="1F40E6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3619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Governing Message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1417320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대기질 데이터를 ‘제조 공정’에 빗대어, QC·생산관리 직무 역량을 실데이터로 증명하기 위해 시작했다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544068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2340864"/>
            <a:ext cx="5111496" cy="64008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2697480"/>
            <a:ext cx="868680" cy="86868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916936"/>
            <a:ext cx="429768" cy="4297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057400" y="257860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직무 역량 입증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2057400" y="303580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QC/API 생산관리 직무 지원 — SPC·6시그마·데이터 자동화 역량을 ‘말’이 아닌 실데이터·실코드로 증명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63640" y="2194560"/>
            <a:ext cx="544068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28232" y="2340864"/>
            <a:ext cx="5111496" cy="64008"/>
          </a:xfrm>
          <a:prstGeom prst="rect">
            <a:avLst/>
          </a:prstGeom>
          <a:solidFill>
            <a:srgbClr val="0E9488"/>
          </a:solidFill>
          <a:ln/>
        </p:spPr>
      </p:sp>
      <p:sp>
        <p:nvSpPr>
          <p:cNvPr id="18" name="Shape 15"/>
          <p:cNvSpPr/>
          <p:nvPr/>
        </p:nvSpPr>
        <p:spPr>
          <a:xfrm>
            <a:off x="6583680" y="2697480"/>
            <a:ext cx="868680" cy="86868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2916936"/>
            <a:ext cx="429768" cy="4297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680960" y="257860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메타포로 끝까지 구현</a:t>
            </a:r>
            <a:endParaRPr lang="en-US" sz="1650" dirty="0"/>
          </a:p>
        </p:txBody>
      </p:sp>
      <p:sp>
        <p:nvSpPr>
          <p:cNvPr id="21" name="Text 17"/>
          <p:cNvSpPr/>
          <p:nvPr/>
        </p:nvSpPr>
        <p:spPr>
          <a:xfrm>
            <a:off x="7680960" y="303580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생산 데이터가 없어도, 공개 대기질 API를 공정·품질특성·규격에 매핑해 공정관리 기법을 완주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0080" y="4114800"/>
            <a:ext cx="544068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04672" y="4261104"/>
            <a:ext cx="5111496" cy="64008"/>
          </a:xfrm>
          <a:prstGeom prst="rect">
            <a:avLst/>
          </a:prstGeom>
          <a:solidFill>
            <a:srgbClr val="C77B16"/>
          </a:solidFill>
          <a:ln/>
        </p:spPr>
      </p:sp>
      <p:sp>
        <p:nvSpPr>
          <p:cNvPr id="24" name="Shape 20"/>
          <p:cNvSpPr/>
          <p:nvPr/>
        </p:nvSpPr>
        <p:spPr>
          <a:xfrm>
            <a:off x="960120" y="4617720"/>
            <a:ext cx="868680" cy="86868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4837176"/>
            <a:ext cx="429768" cy="4297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057400" y="44988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문제의식</a:t>
            </a:r>
            <a:endParaRPr lang="en-US" sz="1650" dirty="0"/>
          </a:p>
        </p:txBody>
      </p:sp>
      <p:sp>
        <p:nvSpPr>
          <p:cNvPr id="27" name="Text 22"/>
          <p:cNvSpPr/>
          <p:nvPr/>
        </p:nvSpPr>
        <p:spPr>
          <a:xfrm>
            <a:off x="2057400" y="495604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충북 청주 산단(오창·오송 등) 인근 대기질이 거주지보다 실제로 나쁜지, 데이터로 직접 검증하고 싶었다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263640" y="4114800"/>
            <a:ext cx="544068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428232" y="4261104"/>
            <a:ext cx="5111496" cy="64008"/>
          </a:xfrm>
          <a:prstGeom prst="rect">
            <a:avLst/>
          </a:prstGeom>
          <a:solidFill>
            <a:srgbClr val="6D4AE0"/>
          </a:solidFill>
          <a:ln/>
        </p:spPr>
      </p:sp>
      <p:sp>
        <p:nvSpPr>
          <p:cNvPr id="30" name="Shape 25"/>
          <p:cNvSpPr/>
          <p:nvPr/>
        </p:nvSpPr>
        <p:spPr>
          <a:xfrm>
            <a:off x="6583680" y="4617720"/>
            <a:ext cx="868680" cy="86868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4837176"/>
            <a:ext cx="429768" cy="42976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680960" y="44988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파이프라인 경험</a:t>
            </a:r>
            <a:endParaRPr lang="en-US" sz="1650" dirty="0"/>
          </a:p>
        </p:txBody>
      </p:sp>
      <p:sp>
        <p:nvSpPr>
          <p:cNvPr id="33" name="Text 27"/>
          <p:cNvSpPr/>
          <p:nvPr/>
        </p:nvSpPr>
        <p:spPr>
          <a:xfrm>
            <a:off x="7680960" y="495604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수집→분석→알림까지 무중단·무비용으로 돌아가는 엔드투엔드 데이터 파이프라인을 직접 설계·운영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11320272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950976"/>
            <a:ext cx="64008" cy="237744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· 분석 배경 · 분석 목표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EEF1FB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536192"/>
            <a:ext cx="1874520" cy="329184"/>
          </a:xfrm>
          <a:prstGeom prst="roundRect">
            <a:avLst>
              <a:gd name="adj" fmla="val 50000"/>
            </a:avLst>
          </a:prstGeom>
          <a:solidFill>
            <a:srgbClr val="1F40E6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3619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Governing Message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1417320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산단 인근 대기질이 거주지보다 통계적으로 나쁜지, 어느 지표를 우선 관리해야 하는지 규명한다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2386584"/>
            <a:ext cx="3236976" cy="64008"/>
          </a:xfrm>
          <a:prstGeom prst="rect">
            <a:avLst/>
          </a:prstGeom>
          <a:solidFill>
            <a:srgbClr val="1F40E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542032"/>
            <a:ext cx="566928" cy="56692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45920" y="2578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주제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50976" y="32461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측정소=공정 라인, 오염물질=품질특성(CQA), 환경기준=규격(USL)으로 매핑한 메타포 프로젝트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343400" y="22402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07992" y="2386584"/>
            <a:ext cx="3236976" cy="64008"/>
          </a:xfrm>
          <a:prstGeom prst="rect">
            <a:avLst/>
          </a:prstGeom>
          <a:solidFill>
            <a:srgbClr val="0E948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542032"/>
            <a:ext cx="566928" cy="5669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49240" y="2578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목표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4654296" y="32461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산단 영향군 vs 거주지 평균차 통계 검정, 공정능력(Cpk) 산출, 우선 관리 지표 도출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046720" y="22402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211312" y="2386584"/>
            <a:ext cx="3236976" cy="64008"/>
          </a:xfrm>
          <a:prstGeom prst="rect">
            <a:avLst/>
          </a:prstGeom>
          <a:solidFill>
            <a:srgbClr val="C77B1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542032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52560" y="2578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배경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357616" y="32461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산단 대기질 상시 감시 필요. 단순 농도 비교만으로는 ‘관리 우선순위’ 판단이 어려움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40080" y="434340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61772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81328" y="4617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14400" y="5120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산단 인근 대기질은 거주지보다 통계적으로 유의하게 나쁜가?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지표·어느 측정소를 우선 관리해야 하는가?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6263640" y="434340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617720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04888" y="4617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결과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6537960" y="5120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PM2.5·PM10 전 측정소 ‘불량 위험’ 식별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잔차 관리도로 거짓경보 46% → 2% 개선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11320272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시스템 — 대상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950976"/>
            <a:ext cx="64008" cy="237744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지표 6종 · 측정소 5곳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지표 (품질특성 CQA)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FDEDE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1226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46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PM2.5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58775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초미세먼지 · 우선관리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42032" y="196596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FDEDED"/>
          </a:solidFill>
          <a:ln/>
        </p:spPr>
      </p:sp>
      <p:sp>
        <p:nvSpPr>
          <p:cNvPr id="11" name="Text 9"/>
          <p:cNvSpPr/>
          <p:nvPr/>
        </p:nvSpPr>
        <p:spPr>
          <a:xfrm>
            <a:off x="2542032" y="211226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46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PM10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33472" y="258775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미세먼지 · 우선관리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43984" y="196596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EEF1FB"/>
          </a:solidFill>
          <a:ln/>
        </p:spPr>
      </p:sp>
      <p:sp>
        <p:nvSpPr>
          <p:cNvPr id="14" name="Text 12"/>
          <p:cNvSpPr/>
          <p:nvPr/>
        </p:nvSpPr>
        <p:spPr>
          <a:xfrm>
            <a:off x="4443984" y="211226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35424" y="258775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이산화질소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273552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EEF1F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1985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O₃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1520" y="389534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오존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42032" y="3273552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EEF1FB"/>
          </a:solidFill>
          <a:ln/>
        </p:spPr>
      </p:sp>
      <p:sp>
        <p:nvSpPr>
          <p:cNvPr id="20" name="Text 18"/>
          <p:cNvSpPr/>
          <p:nvPr/>
        </p:nvSpPr>
        <p:spPr>
          <a:xfrm>
            <a:off x="2542032" y="341985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SO₂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633472" y="389534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아황산가스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43984" y="3273552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EEF1FB"/>
          </a:solidFill>
          <a:ln/>
        </p:spPr>
      </p:sp>
      <p:sp>
        <p:nvSpPr>
          <p:cNvPr id="23" name="Text 21"/>
          <p:cNvSpPr/>
          <p:nvPr/>
        </p:nvSpPr>
        <p:spPr>
          <a:xfrm>
            <a:off x="4443984" y="341985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35424" y="389534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일산화탄소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45262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USL=대기환경보전법 환경기준 · LSL=0 (단측 규격). 실제 배치공정 양측 규격(USL+LSL)에도 동일 Cpk 산식 적용 가능.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3796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측정소 (공정 라인)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537960" y="196596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02552" y="2112264"/>
            <a:ext cx="4837176" cy="64008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22128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산단 영향군 · 4곳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12280" y="26060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오창(반도체) · 복대 · 봉명(SK하이닉스 청주캠퍼스 권역) · 오송(바이오)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37960" y="347472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02552" y="3621024"/>
            <a:ext cx="4837176" cy="64008"/>
          </a:xfrm>
          <a:prstGeom prst="rect">
            <a:avLst/>
          </a:prstGeom>
          <a:solidFill>
            <a:srgbClr val="9AA5B1"/>
          </a:solidFill>
          <a:ln/>
        </p:spPr>
      </p:sp>
      <p:sp>
        <p:nvSpPr>
          <p:cNvPr id="33" name="Text 31"/>
          <p:cNvSpPr/>
          <p:nvPr/>
        </p:nvSpPr>
        <p:spPr>
          <a:xfrm>
            <a:off x="6812280" y="37216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베이스라인 · 1곳 (대조군)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12280" y="41148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용암동 — 거주지 기준선. 산단 영향군과의 평균차를 Welch t-test로 검정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51206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EF1FB"/>
          </a:solidFill>
          <a:ln/>
        </p:spPr>
      </p:sp>
      <p:sp>
        <p:nvSpPr>
          <p:cNvPr id="36" name="Shape 34"/>
          <p:cNvSpPr/>
          <p:nvPr/>
        </p:nvSpPr>
        <p:spPr>
          <a:xfrm>
            <a:off x="868680" y="5330952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1F40E6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53309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인사이트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423160" y="51206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6종 × 5측정소 = 30개 ‘공정-품질특성’ 조합을 1시간 해상도로 상시 모니터링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1320272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시스템 — 아키텍처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950976"/>
            <a:ext cx="64008" cy="237744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무중단 · 무비용 · 무누락 자동 파이프라인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EEF1FB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536192"/>
            <a:ext cx="1874520" cy="329184"/>
          </a:xfrm>
          <a:prstGeom prst="roundRect">
            <a:avLst>
              <a:gd name="adj" fmla="val 50000"/>
            </a:avLst>
          </a:prstGeom>
          <a:solidFill>
            <a:srgbClr val="1F40E6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3619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Governing Message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1417320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스케줄러가 GitHub Actions를 트리거 → 수집·저장·배포·알림까지 서버리스 무중단 운영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233172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EEF1F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028" y="2514600"/>
            <a:ext cx="512064" cy="5120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22376" y="304495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cron-job.org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22376" y="3300984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스케줄러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560320" y="2514600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2944368" y="233172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1F40E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596" y="2514600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80944" y="304495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Actions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2980944" y="3300984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서버리스 수집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18888" y="2514600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6"/>
          <p:cNvSpPr/>
          <p:nvPr/>
        </p:nvSpPr>
        <p:spPr>
          <a:xfrm>
            <a:off x="5202936" y="233172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EEF1F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2514600"/>
            <a:ext cx="512064" cy="5120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39512" y="304495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에어코리아 API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239512" y="3300984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시간당 측정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7077456" y="2514600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5" name="Shape 20"/>
          <p:cNvSpPr/>
          <p:nvPr/>
        </p:nvSpPr>
        <p:spPr>
          <a:xfrm>
            <a:off x="7461504" y="233172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EEF1F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732" y="2514600"/>
            <a:ext cx="512064" cy="5120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98080" y="304495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SQLite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498080" y="3300984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 안전 저장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9336024" y="2514600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30" name="Shape 24"/>
          <p:cNvSpPr/>
          <p:nvPr/>
        </p:nvSpPr>
        <p:spPr>
          <a:xfrm>
            <a:off x="9720072" y="233172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EEF1FB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0" y="2514600"/>
            <a:ext cx="512064" cy="51206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756648" y="304495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9756648" y="3300984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배포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68580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도구 및 방법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389120"/>
          <a:ext cx="110185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410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0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506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수집 · 저장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506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requests(지수 백오프) · SQLite + SQLModel · self-healing 백필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506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통계 · 분석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506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Cp/Cpk · 관리도(I/EWMA/CUSUM) · 잔차 관리도 · WE Rules · scipy(t-test/ANOVA)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506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이상탐지 · 알림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506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scikit-learn IsolationForest · Discord Webhook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506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자동화 · 품질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506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GitHub Actions · pytest 220건 · uv · Streamlit Cloud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Text 28"/>
          <p:cNvSpPr/>
          <p:nvPr/>
        </p:nvSpPr>
        <p:spPr>
          <a:xfrm>
            <a:off x="11320272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수집 성과 &amp; 농도 추세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950976"/>
            <a:ext cx="64008" cy="237744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108일 무중단 12,835건 · PM2.5 일별 추세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EF1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9105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12,835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누적 건수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19856" y="14630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EF1FB"/>
          </a:solidFill>
          <a:ln/>
        </p:spPr>
      </p:sp>
      <p:sp>
        <p:nvSpPr>
          <p:cNvPr id="10" name="Text 8"/>
          <p:cNvSpPr/>
          <p:nvPr/>
        </p:nvSpPr>
        <p:spPr>
          <a:xfrm>
            <a:off x="3419856" y="159105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108일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19856" y="2331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 무중단 수집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99632" y="14630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EF1FB"/>
          </a:solidFill>
          <a:ln/>
        </p:spPr>
      </p:sp>
      <p:sp>
        <p:nvSpPr>
          <p:cNvPr id="13" name="Text 11"/>
          <p:cNvSpPr/>
          <p:nvPr/>
        </p:nvSpPr>
        <p:spPr>
          <a:xfrm>
            <a:off x="6199632" y="159105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15일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99632" y="2331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산단 USL 초과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79408" y="14630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EF1FB"/>
          </a:solidFill>
          <a:ln/>
        </p:spPr>
      </p:sp>
      <p:sp>
        <p:nvSpPr>
          <p:cNvPr id="16" name="Text 14"/>
          <p:cNvSpPr/>
          <p:nvPr/>
        </p:nvSpPr>
        <p:spPr>
          <a:xfrm>
            <a:off x="8979408" y="159105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979408" y="2331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회귀 테스트</a:t>
            </a:r>
            <a:endParaRPr lang="en-US" sz="1250" dirty="0"/>
          </a:p>
        </p:txBody>
      </p:sp>
      <p:pic>
        <p:nvPicPr>
          <p:cNvPr id="18" name="Image 0" descr="/Users/t2025-m0190/workspace/chungbuk-air-quality-monitor/build/deck/img/ts_pm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26080"/>
            <a:ext cx="7132320" cy="327440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955280" y="2926080"/>
            <a:ext cx="37490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22960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수집을 넘어 ‘신호’까지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229600" y="361188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산단 &gt; 거주지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산단 영향군 일평균이 대부분 거주지보다 높고, 환경기준(USL 35)을 108일 중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046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15일 초과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229600" y="48006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self-healing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cron 드롭이 나도 다음 실행이 직전 24h 갭을 멱등 복구해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E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데이터는 무결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1320272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점검 — 전처리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950976"/>
            <a:ext cx="64008" cy="237744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6종 오염물질 분포 · 결측/이상치 확인</a:t>
            </a:r>
            <a:endParaRPr lang="en-US" sz="1300" dirty="0"/>
          </a:p>
        </p:txBody>
      </p:sp>
      <p:pic>
        <p:nvPicPr>
          <p:cNvPr id="6" name="Image 0" descr="/Users/t2025-m0190/workspace/chungbuk-air-quality-monitor/build/deck/img/box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508760"/>
            <a:ext cx="9692640" cy="448931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9436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EF1FB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" y="6071616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1F40E6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607161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전처리 결과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377440" y="594360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결측 0건 · 측정값 범위 정상 — 측정시각(data_time)·수집시각(created_at) 분리 기록 = audit trail·ALCOA+ 데이터 무결성 원칙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기준 설정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950976"/>
            <a:ext cx="64008" cy="237744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전통 관리도 vs 자기상관 보정 잔차 관리도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전통 I-Chart (i.i.d. 가정)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00600" y="187452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9AA5B1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8745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부적합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대기질은 강한 시계열 자기상관(PM2.5 lag-1 ACF ≈ 0.93)을 가진다.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337560"/>
            <a:ext cx="146304" cy="146304"/>
          </a:xfrm>
          <a:prstGeom prst="ellipse">
            <a:avLst/>
          </a:prstGeom>
          <a:solidFill>
            <a:srgbClr val="E04646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 가정 붕괴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3566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인접 관측치가 강하게 상관 → MR 기반 σ 과소추정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" y="4114800"/>
            <a:ext cx="146304" cy="146304"/>
          </a:xfrm>
          <a:prstGeom prst="ellipse">
            <a:avLst/>
          </a:prstGeom>
          <a:solidFill>
            <a:srgbClr val="E04646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관리한계 협소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4343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한계선이 좁아져 정상 변동도 이탈로 오판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4892040"/>
            <a:ext cx="146304" cy="146304"/>
          </a:xfrm>
          <a:prstGeom prst="ellipse">
            <a:avLst/>
          </a:prstGeom>
          <a:solidFill>
            <a:srgbClr val="E04646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거짓경보 폭증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5120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 이탈률 46% — 특수원인 식별 불가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155448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0F8F6"/>
          </a:solidFill>
          <a:ln w="12700">
            <a:solidFill>
              <a:srgbClr val="B9E0D8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B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잔차 관리도 (자기상관 보정)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424160" y="187452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0E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10424160" y="18745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2468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일주기(시간대) 효과 제거 + AR(1) 잔차에 관리도를 적용해 독립성을 회복.</a:t>
            </a:r>
            <a:endParaRPr lang="en-US" sz="13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3291840"/>
            <a:ext cx="201168" cy="20116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85800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백색화 성공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858000" y="3566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ACF 0.93 → ≈0(−0.03), 잔차가 독립에 근접</a:t>
            </a:r>
            <a:endParaRPr lang="en-US" sz="115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069080"/>
            <a:ext cx="201168" cy="20116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85800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관리한계 정상화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858000" y="4343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명목 거짓경보율(0.27%) 수준으로 복원</a:t>
            </a:r>
            <a:endParaRPr lang="en-US" sz="115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846320"/>
            <a:ext cx="201168" cy="20116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85800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진짜 신호만 탐지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6858000" y="5120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 이탈률 46% → 2%, 특수원인 후보만 남김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11320272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 분석 — 공정능력지수 Cpk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950976"/>
            <a:ext cx="64008" cy="237744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측정소 × 오염물질 30개 조합 진단</a:t>
            </a:r>
            <a:endParaRPr lang="en-US" sz="1300" dirty="0"/>
          </a:p>
        </p:txBody>
      </p:sp>
      <p:pic>
        <p:nvPicPr>
          <p:cNvPr id="6" name="Image 0" descr="/Users/t2025-m0190/workspace/chungbuk-air-quality-monitor/build/deck/img/cpk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48840"/>
            <a:ext cx="7040880" cy="31693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5321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USL=대기환경보전법 일평균 환경기준(PM2.5 35㎍/㎥ 등) · LSL=0 · Cpk&lt;1.0=불량 위험 · Cpk≥1.33=양호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092440" y="178308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DEDED"/>
          </a:solidFill>
          <a:ln/>
        </p:spPr>
      </p:sp>
      <p:sp>
        <p:nvSpPr>
          <p:cNvPr id="9" name="Text 6"/>
          <p:cNvSpPr/>
          <p:nvPr/>
        </p:nvSpPr>
        <p:spPr>
          <a:xfrm>
            <a:off x="832104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46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우선 관리 — PM2.5 · PM10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321040" y="2450592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측정소 Cpk &lt; 1.0 ‘불량 위험’. 특히 오송읍 PM2.5 Cpk 0.28로 최저 → 1순위 관리 대상. 미세먼지가 구조적 핵심 인자.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92440" y="406908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21040" y="4315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양호 — SO₂ · CO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321040" y="47548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Cpk ≥ 1.2로 규격 대비 여유. Cp/Cpk·USL은 대기환경보전법 환경기준(일·연평균) 기반으로 산출.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320272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 분석 — 자기상관 보정 성과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950976"/>
            <a:ext cx="64008" cy="237744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잔차 관리도로 거짓경보율 46% → 2% 정상화</a:t>
            </a:r>
            <a:endParaRPr lang="en-US" sz="1300" dirty="0"/>
          </a:p>
        </p:txBody>
      </p:sp>
      <p:pic>
        <p:nvPicPr>
          <p:cNvPr id="6" name="Image 0" descr="/Users/t2025-m0190/workspace/chungbuk-air-quality-monitor/build/deck/img/residual_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7589520" cy="275074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737360"/>
            <a:ext cx="3154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549640" y="19019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49640" y="21488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046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46%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8549640" y="29260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전통 I-Chart 거짓경보율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549640" y="334670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549640" y="3703320"/>
            <a:ext cx="3154680" cy="1554480"/>
          </a:xfrm>
          <a:prstGeom prst="roundRect">
            <a:avLst>
              <a:gd name="adj" fmla="val 4706"/>
            </a:avLst>
          </a:prstGeom>
          <a:solidFill>
            <a:srgbClr val="F0F8F6"/>
          </a:solidFill>
          <a:ln/>
        </p:spPr>
      </p:sp>
      <p:sp>
        <p:nvSpPr>
          <p:cNvPr id="13" name="Text 10"/>
          <p:cNvSpPr/>
          <p:nvPr/>
        </p:nvSpPr>
        <p:spPr>
          <a:xfrm>
            <a:off x="8549640" y="386791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B6B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549640" y="4114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E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2%</a:t>
            </a:r>
            <a:endParaRPr lang="en-US" sz="5000" dirty="0"/>
          </a:p>
        </p:txBody>
      </p:sp>
      <p:sp>
        <p:nvSpPr>
          <p:cNvPr id="15" name="Text 12"/>
          <p:cNvSpPr/>
          <p:nvPr/>
        </p:nvSpPr>
        <p:spPr>
          <a:xfrm>
            <a:off x="8549640" y="48920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6B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잔차 관리도 거짓경보율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585216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F40E6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5852160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성과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|   원시 관리도의 이탈은 대부분 자기상관에 의한 거짓경보 — 잔차에 남는 이탈만이 진짜 특수원인 후보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 분석 — 단지 비교 검정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950976"/>
            <a:ext cx="64008" cy="237744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산단 영향군 vs 거주지 (Welch t-test)</a:t>
            </a:r>
            <a:endParaRPr lang="en-US" sz="1300" dirty="0"/>
          </a:p>
        </p:txBody>
      </p:sp>
      <p:pic>
        <p:nvPicPr>
          <p:cNvPr id="6" name="Image 0" descr="/Users/t2025-m0190/workspace/chungbuk-air-quality-monitor/build/deck/img/group_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6400800" cy="3584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8064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n = PM2.5 결측 제외 측정치 수. 전체 누적 12,835건 → PM2.5 유효 12,286건 = 산단 9,895(4측정소 합산) + 거주지 2,391(1측정소).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7830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9244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결과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7589520" y="2377440"/>
            <a:ext cx="4114800" cy="0"/>
          </a:xfrm>
          <a:prstGeom prst="line">
            <a:avLst/>
          </a:prstGeom>
          <a:noFill/>
          <a:ln w="12700">
            <a:solidFill>
              <a:srgbClr val="DCE3F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589520" y="2560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가설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589520" y="288036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“산단 영향군의 PM2.5 평균이 거주지보다 높을 것이다”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589520" y="370332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4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Welch t-test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두 군 평균차의 통계적 유의성을 검정. Cohen’s d로 효과크기를 함께 산출해 실질적 차이를 확인.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589520" y="507492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F40E6"/>
          </a:solidFill>
          <a:ln/>
        </p:spPr>
      </p:sp>
      <p:sp>
        <p:nvSpPr>
          <p:cNvPr id="15" name="Text 11"/>
          <p:cNvSpPr/>
          <p:nvPr/>
        </p:nvSpPr>
        <p:spPr>
          <a:xfrm>
            <a:off x="7589520" y="5074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가설 검정 자동화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589520" y="55961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daily 루프가 MD·Word 리포트 자동 생성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1320272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탐지 자동화 &amp; 실시간 알림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950976"/>
            <a:ext cx="64008" cy="237744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Western Electric Rules · IsolationForest · Discord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837944"/>
            <a:ext cx="3236976" cy="64008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2286000"/>
            <a:ext cx="914400" cy="91440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5146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50976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50976" y="363931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Western Electric Rules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50976" y="43159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추세·쏠림·허깅·지그재그 등 8개 비랜덤 패턴 자동 판정. 3σ 이탈만 보던 한계를 넘어 특수원인 신호를 조기 포착.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43400" y="16916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7992" y="1837944"/>
            <a:ext cx="3236976" cy="64008"/>
          </a:xfrm>
          <a:prstGeom prst="rect">
            <a:avLst/>
          </a:prstGeom>
          <a:solidFill>
            <a:srgbClr val="0E9488"/>
          </a:solidFill>
          <a:ln/>
        </p:spPr>
      </p:sp>
      <p:sp>
        <p:nvSpPr>
          <p:cNvPr id="15" name="Shape 12"/>
          <p:cNvSpPr/>
          <p:nvPr/>
        </p:nvSpPr>
        <p:spPr>
          <a:xfrm>
            <a:off x="4636008" y="2286000"/>
            <a:ext cx="914400" cy="91440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51460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54296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654296" y="363931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IsolationForest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4654296" y="43159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 오염물질을 동시에 보는 다변량 이상 탐지. 단변량 관리도가 놓치는 복합 이상 패턴을 비지도 학습으로 식별.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046720" y="16916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101600" dist="25400" dir="5400000">
              <a:srgbClr val="8794B5">
                <a:alpha val="2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211312" y="1837944"/>
            <a:ext cx="3236976" cy="64008"/>
          </a:xfrm>
          <a:prstGeom prst="rect">
            <a:avLst/>
          </a:prstGeom>
          <a:solidFill>
            <a:srgbClr val="C77B16"/>
          </a:solidFill>
          <a:ln/>
        </p:spPr>
      </p:sp>
      <p:sp>
        <p:nvSpPr>
          <p:cNvPr id="22" name="Shape 18"/>
          <p:cNvSpPr/>
          <p:nvPr/>
        </p:nvSpPr>
        <p:spPr>
          <a:xfrm>
            <a:off x="8339328" y="2286000"/>
            <a:ext cx="914400" cy="91440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251460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57616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B1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357616" y="363931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Discord 실시간 알림</a:t>
            </a:r>
            <a:endParaRPr lang="en-US" sz="1650" dirty="0"/>
          </a:p>
        </p:txBody>
      </p:sp>
      <p:sp>
        <p:nvSpPr>
          <p:cNvPr id="26" name="Text 21"/>
          <p:cNvSpPr/>
          <p:nvPr/>
        </p:nvSpPr>
        <p:spPr>
          <a:xfrm>
            <a:off x="8357616" y="43159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0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 수집 후 Cpk 미달·룰 위반을 점검해 Webhook 전송. 위험/주의/정상 색상 코드로 즉시 인지.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40080" y="557784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EF1FB"/>
          </a:solidFill>
          <a:ln/>
        </p:spPr>
      </p:sp>
      <p:sp>
        <p:nvSpPr>
          <p:cNvPr id="28" name="Shape 23"/>
          <p:cNvSpPr/>
          <p:nvPr/>
        </p:nvSpPr>
        <p:spPr>
          <a:xfrm>
            <a:off x="841248" y="5733288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1F40E6"/>
          </a:solidFill>
          <a:ln/>
        </p:spPr>
      </p:sp>
      <p:sp>
        <p:nvSpPr>
          <p:cNvPr id="29" name="Text 24"/>
          <p:cNvSpPr/>
          <p:nvPr/>
        </p:nvSpPr>
        <p:spPr>
          <a:xfrm>
            <a:off x="841248" y="573328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Control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2377440" y="5577840"/>
            <a:ext cx="9144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DMAIC의 Control 단계 — 탐지에서 알림까지 완전 자동화로 지속 모니터링 체계 완성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11320272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현업 전이 — GMP · 품질관리로의 확장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950976"/>
            <a:ext cx="64008" cy="237744"/>
          </a:xfrm>
          <a:prstGeom prst="rect">
            <a:avLst/>
          </a:prstGeom>
          <a:solidFill>
            <a:srgbClr val="1F40E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SPC 역량이 실제 제조·품질 업무로 어떻게 이어지는가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EEF1FB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536192"/>
            <a:ext cx="1874520" cy="329184"/>
          </a:xfrm>
          <a:prstGeom prst="roundRect">
            <a:avLst>
              <a:gd name="adj" fmla="val 50000"/>
            </a:avLst>
          </a:prstGeom>
          <a:solidFill>
            <a:srgbClr val="1F40E6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3619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Governing Message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1417320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대기질로 검증한 SPC·통계·자동화 역량은 GMP 환경의 공정능력·일탈관리·밸리데이션으로 그대로 전이된다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10927080" cy="914400"/>
        </p:xfrm>
        <a:graphic>
          <a:graphicData uri="http://schemas.openxmlformats.org/drawingml/2006/table">
            <a:tbl>
              <a:tblPr/>
              <a:tblGrid>
                <a:gridCol w="3977640"/>
                <a:gridCol w="69494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 프로젝트에서 구현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GMP · 품질관리 현업 적용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0E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1B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Cp / Cpk 공정능력 산출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1B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공정밸리데이션(PPQ) 공정능력 평가 · 규격(spec) 대비 여유 판정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1B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관리도 + Western Electric Rules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1B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공정 모니터링 · 일탈(deviation)·OOT 조기 탐지 · CAPA 연계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1B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자기상관 보정 잔차 관리도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1B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자기상관 있는 연속공정 변수의 올바른 관리한계 설정 (거짓경보 억제)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1B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Welch t-test · ANOVA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1B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배치 간·라인 간 비교 · 동등성은 TOST로 확장(p·Cohen’s d 산출 완료, 임계 ±δ만 추가)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1B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IsolationForest 다변량 탐지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1B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다변량 공정이상(MSPC) 탐지 · OOS/OOT 조사 트리거 · 원인변수 스크리닝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1B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수집→분석→알림 자동화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1B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MES / LIMS 품질데이터 모니터링 · ALCOA+ · Part 11 audit trail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6035040"/>
            <a:ext cx="10927080" cy="566928"/>
          </a:xfrm>
          <a:prstGeom prst="roundRect">
            <a:avLst>
              <a:gd name="adj" fmla="val 12903"/>
            </a:avLst>
          </a:prstGeom>
          <a:solidFill>
            <a:srgbClr val="EEF1FB"/>
          </a:solidFill>
          <a:ln/>
        </p:spPr>
      </p:sp>
      <p:sp>
        <p:nvSpPr>
          <p:cNvPr id="12" name="Shape 9"/>
          <p:cNvSpPr/>
          <p:nvPr/>
        </p:nvSpPr>
        <p:spPr>
          <a:xfrm>
            <a:off x="841248" y="6163056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F40E6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61630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생산관리 확장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560320" y="6035040"/>
            <a:ext cx="9006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연속공정 SPC를 배치공정으로 확장 — 골든배치 대비 Mahalanobis 거리 · 배치 간 변동 ANOVA/혼합효과모형 · 수율 모니터링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730A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4980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71323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성과 &amp; 입증 역량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2E4DEA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" y="2011680"/>
            <a:ext cx="2194560" cy="54864"/>
          </a:xfrm>
          <a:prstGeom prst="rect">
            <a:avLst/>
          </a:prstGeom>
          <a:solidFill>
            <a:srgbClr val="9DB2FF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12,835건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31520" y="3063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DE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108일 무중단 수집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19856" y="178308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2E4DEA"/>
          </a:solidFill>
          <a:ln/>
        </p:spPr>
      </p:sp>
      <p:sp>
        <p:nvSpPr>
          <p:cNvPr id="10" name="Shape 7"/>
          <p:cNvSpPr/>
          <p:nvPr/>
        </p:nvSpPr>
        <p:spPr>
          <a:xfrm>
            <a:off x="3648456" y="2011680"/>
            <a:ext cx="2194560" cy="54864"/>
          </a:xfrm>
          <a:prstGeom prst="rect">
            <a:avLst/>
          </a:prstGeom>
          <a:solidFill>
            <a:srgbClr val="9DB2FF"/>
          </a:solidFill>
          <a:ln/>
        </p:spPr>
      </p:sp>
      <p:sp>
        <p:nvSpPr>
          <p:cNvPr id="11" name="Text 8"/>
          <p:cNvSpPr/>
          <p:nvPr/>
        </p:nvSpPr>
        <p:spPr>
          <a:xfrm>
            <a:off x="3465576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46% → 2%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511296" y="3063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DE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PM2.5 거짓경보율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99632" y="178308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2E4DEA"/>
          </a:solidFill>
          <a:ln/>
        </p:spPr>
      </p:sp>
      <p:sp>
        <p:nvSpPr>
          <p:cNvPr id="14" name="Shape 11"/>
          <p:cNvSpPr/>
          <p:nvPr/>
        </p:nvSpPr>
        <p:spPr>
          <a:xfrm>
            <a:off x="6428232" y="2011680"/>
            <a:ext cx="2194560" cy="54864"/>
          </a:xfrm>
          <a:prstGeom prst="rect">
            <a:avLst/>
          </a:prstGeom>
          <a:solidFill>
            <a:srgbClr val="9DB2FF"/>
          </a:solidFill>
          <a:ln/>
        </p:spPr>
      </p:sp>
      <p:sp>
        <p:nvSpPr>
          <p:cNvPr id="15" name="Text 12"/>
          <p:cNvSpPr/>
          <p:nvPr/>
        </p:nvSpPr>
        <p:spPr>
          <a:xfrm>
            <a:off x="6245352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+ 다변량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291072" y="3063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DE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 Rules · IForest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979408" y="178308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2E4DEA"/>
          </a:solidFill>
          <a:ln/>
        </p:spPr>
      </p:sp>
      <p:sp>
        <p:nvSpPr>
          <p:cNvPr id="18" name="Shape 15"/>
          <p:cNvSpPr/>
          <p:nvPr/>
        </p:nvSpPr>
        <p:spPr>
          <a:xfrm>
            <a:off x="9208008" y="2011680"/>
            <a:ext cx="2194560" cy="54864"/>
          </a:xfrm>
          <a:prstGeom prst="rect">
            <a:avLst/>
          </a:prstGeom>
          <a:solidFill>
            <a:srgbClr val="9DB2FF"/>
          </a:solidFill>
          <a:ln/>
        </p:spPr>
      </p:sp>
      <p:sp>
        <p:nvSpPr>
          <p:cNvPr id="19" name="Text 16"/>
          <p:cNvSpPr/>
          <p:nvPr/>
        </p:nvSpPr>
        <p:spPr>
          <a:xfrm>
            <a:off x="9025128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220 / 220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070848" y="3063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DE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회귀 테스트 통과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" y="4160520"/>
            <a:ext cx="10927080" cy="0"/>
          </a:xfrm>
          <a:prstGeom prst="line">
            <a:avLst/>
          </a:prstGeom>
          <a:noFill/>
          <a:ln w="12700">
            <a:solidFill>
              <a:srgbClr val="5A73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입증한 역량</a:t>
            </a:r>
            <a:endParaRPr lang="en-US" sz="14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800600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51560" y="4754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SPC · 6시그마 DMAIC 실데이터 적용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1051560" y="5349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CC8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Cp/Cpk·관리도·가설검정을 직접 구현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4800600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709160" y="4754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파이프라인 무중단 자동화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4709160" y="5349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CC8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Actions로 수집→분석→알림 무인 운영</a:t>
            </a:r>
            <a:endParaRPr lang="en-US" sz="11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4800600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366760" y="4754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통계적 엄밀성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8366760" y="5349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CC8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자기상관 보정으로 거짓경보를 정량 개선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40080" y="6053328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역량은 GMP 환경의 공정능력(PPQ)·일탈관리·밸리데이션으로 그대로 전이됩니다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github.com/robinho0329/chungbuk-air-quality-monitor   ·   라이브 대시보드 6페이지 운영 중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충북권 산업단지 대기질 SPC 모니터링</dc:title>
  <dc:subject>PptxGenJS Presentation</dc:subject>
  <dc:creator>유호빈</dc:creator>
  <cp:lastModifiedBy>유호빈</cp:lastModifiedBy>
  <cp:revision>1</cp:revision>
  <dcterms:created xsi:type="dcterms:W3CDTF">2026-06-16T23:17:59Z</dcterms:created>
  <dcterms:modified xsi:type="dcterms:W3CDTF">2026-06-16T23:17:59Z</dcterms:modified>
</cp:coreProperties>
</file>