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Shape 1"/>
          <p:cNvSpPr/>
          <p:nvPr/>
        </p:nvSpPr>
        <p:spPr>
          <a:xfrm>
            <a:off x="3246120" y="0"/>
            <a:ext cx="73152" cy="6858000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51560" y="2286000"/>
            <a:ext cx="1143000" cy="11430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37490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AIR QUALITY · SPC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3749040" y="14173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DATA PORTFOLIO  |  품질데이터 · SPC 엔지니어 (QC · API 생산관리)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749040" y="1965960"/>
            <a:ext cx="8046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충북권 산업단지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 SPC 모니터링 시스템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3767328" y="38862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공정관리(SPC) · 6시그마 DMAIC · 데이터 파이프라인 자동화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3767328" y="4709160"/>
            <a:ext cx="7680960" cy="0"/>
          </a:xfrm>
          <a:prstGeom prst="line">
            <a:avLst/>
          </a:prstGeom>
          <a:noFill/>
          <a:ln w="19050">
            <a:solidFill>
              <a:srgbClr val="DCE3F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767328" y="489204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기간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2026.02.28 ~ 2026.06.24</a:t>
            </a:r>
            <a:pPr indent="0" marL="0">
              <a:buNone/>
            </a:pPr>
            <a:r>
              <a:rPr lang="en-US" sz="12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    누적  </a:t>
            </a:r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13,815건 · 측정소 5곳 · 1시간 해상도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3767328" y="5532120"/>
            <a:ext cx="1280160" cy="42062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2" name="Text 9"/>
          <p:cNvSpPr/>
          <p:nvPr/>
        </p:nvSpPr>
        <p:spPr>
          <a:xfrm>
            <a:off x="3767328" y="5532120"/>
            <a:ext cx="1280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유호빈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5212080" y="5532120"/>
            <a:ext cx="64008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프로젝트  ·  github.com/robinho0329/chungbuk-air-quality-monitor</a:t>
            </a:r>
            <a:endParaRPr lang="en-US" sz="11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5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HOOK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18745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5곳, PM2.5 공정능력이</a:t>
            </a:r>
            <a:endParaRPr lang="en-US" sz="340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전부 ‘규격 미달’이었다.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3611880"/>
            <a:ext cx="10607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&lt; 1.0</a:t>
            </a:r>
            <a:pPr indent="0" marL="0">
              <a:buNone/>
            </a:pPr>
            <a:r>
              <a:rPr lang="en-US" sz="230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—  그런데 진짜 문제는 </a:t>
            </a:r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‘위치’가 아니었다.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841248" y="4526280"/>
            <a:ext cx="6858000" cy="0"/>
          </a:xfrm>
          <a:prstGeom prst="line">
            <a:avLst/>
          </a:prstGeom>
          <a:noFill/>
          <a:ln w="19050">
            <a:solidFill>
              <a:srgbClr val="3A47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470916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EB9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변동의 97.6%는 측정소(위치)가 아니라 시간·기상에서 왔다 (위치 기여 2.4%).</a:t>
            </a:r>
            <a:endParaRPr lang="en-US" sz="15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AEB9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관리할 산포와 그냥 둘 변동을 통계로 가르는 것 — 그것이 이 프로젝트의 핵심이자, 내가 증명한 QC 역량이다.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365760"/>
            <a:ext cx="3657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목차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30352" y="1097280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1060704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 흐름으로 본 프로젝트 구성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96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896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737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737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vs 거주지, SPC 상시 감시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896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3" name="Text 11"/>
          <p:cNvSpPr/>
          <p:nvPr/>
        </p:nvSpPr>
        <p:spPr>
          <a:xfrm>
            <a:off x="896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737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737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지표·측정소, 무중단 수집 아키텍처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96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18" name="Text 16"/>
          <p:cNvSpPr/>
          <p:nvPr/>
        </p:nvSpPr>
        <p:spPr>
          <a:xfrm>
            <a:off x="896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737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수집·점검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737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 누적, 결측·이상치 점검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55080" y="1874520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6611112" y="2167128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3" name="Text 21"/>
          <p:cNvSpPr/>
          <p:nvPr/>
        </p:nvSpPr>
        <p:spPr>
          <a:xfrm>
            <a:off x="6611112" y="2167128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7452360" y="2185416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7452360" y="2587752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355080" y="3401568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6611112" y="3694176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28" name="Text 26"/>
          <p:cNvSpPr/>
          <p:nvPr/>
        </p:nvSpPr>
        <p:spPr>
          <a:xfrm>
            <a:off x="6611112" y="3694176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7452360" y="3712464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</a:t>
            </a:r>
            <a:endParaRPr lang="en-US" sz="1700" dirty="0"/>
          </a:p>
        </p:txBody>
      </p:sp>
      <p:sp>
        <p:nvSpPr>
          <p:cNvPr id="30" name="Text 28"/>
          <p:cNvSpPr/>
          <p:nvPr/>
        </p:nvSpPr>
        <p:spPr>
          <a:xfrm>
            <a:off x="7452360" y="4114800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 · 잔차 관리도 · 단지 비교 검정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355080" y="4928616"/>
            <a:ext cx="5166360" cy="123444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611112" y="5221224"/>
            <a:ext cx="658368" cy="658368"/>
          </a:xfrm>
          <a:prstGeom prst="roundRect">
            <a:avLst>
              <a:gd name="adj" fmla="val 13889"/>
            </a:avLst>
          </a:prstGeom>
          <a:solidFill>
            <a:srgbClr val="1F40E6"/>
          </a:solidFill>
          <a:ln/>
        </p:spPr>
      </p:sp>
      <p:sp>
        <p:nvSpPr>
          <p:cNvPr id="33" name="Text 31"/>
          <p:cNvSpPr/>
          <p:nvPr/>
        </p:nvSpPr>
        <p:spPr>
          <a:xfrm>
            <a:off x="6611112" y="5221224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7452360" y="5239512"/>
            <a:ext cx="38862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이상탐지·알림 · 현업 전이</a:t>
            </a:r>
            <a:endParaRPr lang="en-US" sz="1700" dirty="0"/>
          </a:p>
        </p:txBody>
      </p:sp>
      <p:sp>
        <p:nvSpPr>
          <p:cNvPr id="35" name="Text 33"/>
          <p:cNvSpPr/>
          <p:nvPr/>
        </p:nvSpPr>
        <p:spPr>
          <a:xfrm>
            <a:off x="7452360" y="564184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Rules·IForest·Discord → GMP 품질관리 전이·결론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 &amp; 동기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왜 이 분석을 시작했는가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공개 대기질 데이터를 ‘제조 공정’에 빗대어, QC·생산관리 직무 역량을 실데이터로 증명하기 위해 시작했다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40864"/>
            <a:ext cx="511149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12" name="Shape 10"/>
          <p:cNvSpPr/>
          <p:nvPr/>
        </p:nvSpPr>
        <p:spPr>
          <a:xfrm>
            <a:off x="96012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9576" y="2916936"/>
            <a:ext cx="429768" cy="429768"/>
          </a:xfrm>
          <a:prstGeom prst="rect">
            <a:avLst/>
          </a:prstGeom>
        </p:spPr>
      </p:pic>
      <p:sp>
        <p:nvSpPr>
          <p:cNvPr id="14" name="Text 11"/>
          <p:cNvSpPr/>
          <p:nvPr/>
        </p:nvSpPr>
        <p:spPr>
          <a:xfrm>
            <a:off x="205740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직무 역량 입증</a:t>
            </a:r>
            <a:endParaRPr lang="en-US" sz="1650" dirty="0"/>
          </a:p>
        </p:txBody>
      </p:sp>
      <p:sp>
        <p:nvSpPr>
          <p:cNvPr id="15" name="Text 12"/>
          <p:cNvSpPr/>
          <p:nvPr/>
        </p:nvSpPr>
        <p:spPr>
          <a:xfrm>
            <a:off x="205740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QC/API 생산관리 직무 지원 — SPC·6시그마·데이터 자동화 역량을 ‘말’이 아닌 실데이터·실코드로 증명</a:t>
            </a:r>
            <a:endParaRPr lang="en-US" sz="1200" dirty="0"/>
          </a:p>
        </p:txBody>
      </p:sp>
      <p:sp>
        <p:nvSpPr>
          <p:cNvPr id="16" name="Shape 13"/>
          <p:cNvSpPr/>
          <p:nvPr/>
        </p:nvSpPr>
        <p:spPr>
          <a:xfrm>
            <a:off x="6263640" y="219456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428232" y="2340864"/>
            <a:ext cx="511149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8" name="Shape 15"/>
          <p:cNvSpPr/>
          <p:nvPr/>
        </p:nvSpPr>
        <p:spPr>
          <a:xfrm>
            <a:off x="6583680" y="269748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03136" y="2916936"/>
            <a:ext cx="429768" cy="429768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7680960" y="257860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메타포로 끝까지 구현</a:t>
            </a:r>
            <a:endParaRPr lang="en-US" sz="1650" dirty="0"/>
          </a:p>
        </p:txBody>
      </p:sp>
      <p:sp>
        <p:nvSpPr>
          <p:cNvPr id="21" name="Text 17"/>
          <p:cNvSpPr/>
          <p:nvPr/>
        </p:nvSpPr>
        <p:spPr>
          <a:xfrm>
            <a:off x="7680960" y="303580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사내 생산 데이터가 없어도, 공개 대기질 API를 공정·품질특성·규격에 매핑해 공정관리 기법을 완주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64008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04672" y="4261104"/>
            <a:ext cx="511149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4" name="Shape 20"/>
          <p:cNvSpPr/>
          <p:nvPr/>
        </p:nvSpPr>
        <p:spPr>
          <a:xfrm>
            <a:off x="96012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9576" y="4837176"/>
            <a:ext cx="429768" cy="42976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205740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지역 문제의식</a:t>
            </a:r>
            <a:endParaRPr lang="en-US" sz="1650" dirty="0"/>
          </a:p>
        </p:txBody>
      </p:sp>
      <p:sp>
        <p:nvSpPr>
          <p:cNvPr id="27" name="Text 22"/>
          <p:cNvSpPr/>
          <p:nvPr/>
        </p:nvSpPr>
        <p:spPr>
          <a:xfrm>
            <a:off x="205740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 청주 산단(오창·오송 등) 인근 대기질이 거주지보다 실제로 나쁜지, 데이터로 직접 검증하고 싶었다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6263640" y="4114800"/>
            <a:ext cx="5440680" cy="1755648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9" name="Shape 24"/>
          <p:cNvSpPr/>
          <p:nvPr/>
        </p:nvSpPr>
        <p:spPr>
          <a:xfrm>
            <a:off x="6428232" y="4261104"/>
            <a:ext cx="5111496" cy="64008"/>
          </a:xfrm>
          <a:prstGeom prst="rect">
            <a:avLst/>
          </a:prstGeom>
          <a:solidFill>
            <a:srgbClr val="6D4AE0"/>
          </a:solidFill>
          <a:ln/>
        </p:spPr>
      </p:sp>
      <p:sp>
        <p:nvSpPr>
          <p:cNvPr id="30" name="Shape 25"/>
          <p:cNvSpPr/>
          <p:nvPr/>
        </p:nvSpPr>
        <p:spPr>
          <a:xfrm>
            <a:off x="6583680" y="4617720"/>
            <a:ext cx="868680" cy="86868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3136" y="4837176"/>
            <a:ext cx="429768" cy="429768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7680960" y="4498848"/>
            <a:ext cx="3794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자동화 파이프라인 경험</a:t>
            </a:r>
            <a:endParaRPr lang="en-US" sz="1650" dirty="0"/>
          </a:p>
        </p:txBody>
      </p:sp>
      <p:sp>
        <p:nvSpPr>
          <p:cNvPr id="33" name="Text 27"/>
          <p:cNvSpPr/>
          <p:nvPr/>
        </p:nvSpPr>
        <p:spPr>
          <a:xfrm>
            <a:off x="7680960" y="4956048"/>
            <a:ext cx="3794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수집→분석→알림까지 무중단·무비용으로 돌아가는 엔드투엔드 데이터 파이프라인을 직접 설계·운영</a:t>
            </a:r>
            <a:endParaRPr lang="en-US" sz="1200" dirty="0"/>
          </a:p>
        </p:txBody>
      </p:sp>
      <p:sp>
        <p:nvSpPr>
          <p:cNvPr id="34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· 분석 배경 · 분석 목표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대기질이 거주지보다 통계적으로 나쁜지, 어느 지표를 우선 관리해야 하는지 규명한다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04672" y="238658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pic>
        <p:nvPicPr>
          <p:cNvPr id="1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542032"/>
            <a:ext cx="566928" cy="566928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64592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주제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95097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측정소=공정 라인, 오염물질=품질특성(CQA), 환경기준=규격(USL)으로 매핑한 메타포 프로젝트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434340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07992" y="238658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542032"/>
            <a:ext cx="566928" cy="56692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534924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목표</a:t>
            </a:r>
            <a:endParaRPr lang="en-US" sz="1700" dirty="0"/>
          </a:p>
        </p:txBody>
      </p:sp>
      <p:sp>
        <p:nvSpPr>
          <p:cNvPr id="19" name="Text 15"/>
          <p:cNvSpPr/>
          <p:nvPr/>
        </p:nvSpPr>
        <p:spPr>
          <a:xfrm>
            <a:off x="465429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vs 거주지 평균차 통계 검정, 공정능력(Cpk) 산출, 우선 관리 지표 도출</a:t>
            </a:r>
            <a:endParaRPr lang="en-US" sz="1250" dirty="0"/>
          </a:p>
        </p:txBody>
      </p:sp>
      <p:sp>
        <p:nvSpPr>
          <p:cNvPr id="20" name="Shape 16"/>
          <p:cNvSpPr/>
          <p:nvPr/>
        </p:nvSpPr>
        <p:spPr>
          <a:xfrm>
            <a:off x="8046720" y="2240280"/>
            <a:ext cx="3566160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238658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9328" y="2542032"/>
            <a:ext cx="566928" cy="566928"/>
          </a:xfrm>
          <a:prstGeom prst="rect">
            <a:avLst/>
          </a:prstGeom>
        </p:spPr>
      </p:pic>
      <p:sp>
        <p:nvSpPr>
          <p:cNvPr id="23" name="Text 18"/>
          <p:cNvSpPr/>
          <p:nvPr/>
        </p:nvSpPr>
        <p:spPr>
          <a:xfrm>
            <a:off x="9052560" y="257860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배경</a:t>
            </a:r>
            <a:endParaRPr lang="en-US" sz="1700" dirty="0"/>
          </a:p>
        </p:txBody>
      </p:sp>
      <p:sp>
        <p:nvSpPr>
          <p:cNvPr id="24" name="Text 19"/>
          <p:cNvSpPr/>
          <p:nvPr/>
        </p:nvSpPr>
        <p:spPr>
          <a:xfrm>
            <a:off x="8357616" y="3246120"/>
            <a:ext cx="2971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대기질 상시 감시 필요. 단순 농도 비교만으로는 ‘관리 우선순위’ 판단이 어려움</a:t>
            </a:r>
            <a:endParaRPr lang="en-US" sz="1250" dirty="0"/>
          </a:p>
        </p:txBody>
      </p:sp>
      <p:sp>
        <p:nvSpPr>
          <p:cNvPr id="25" name="Shape 20"/>
          <p:cNvSpPr/>
          <p:nvPr/>
        </p:nvSpPr>
        <p:spPr>
          <a:xfrm>
            <a:off x="64008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4617720"/>
            <a:ext cx="457200" cy="45720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48132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</a:t>
            </a:r>
            <a:endParaRPr lang="en-US" sz="1500" dirty="0"/>
          </a:p>
        </p:txBody>
      </p:sp>
      <p:sp>
        <p:nvSpPr>
          <p:cNvPr id="28" name="Text 22"/>
          <p:cNvSpPr/>
          <p:nvPr/>
        </p:nvSpPr>
        <p:spPr>
          <a:xfrm>
            <a:off x="91440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인근 대기질은 거주지보다 통계적으로 유의하게 나쁜가?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어느 지표·어느 측정소를 우선 관리해야 하는가?</a:t>
            </a:r>
            <a:endParaRPr lang="en-US" sz="1350" dirty="0"/>
          </a:p>
        </p:txBody>
      </p:sp>
      <p:sp>
        <p:nvSpPr>
          <p:cNvPr id="29" name="Shape 23"/>
          <p:cNvSpPr/>
          <p:nvPr/>
        </p:nvSpPr>
        <p:spPr>
          <a:xfrm>
            <a:off x="6263640" y="4343400"/>
            <a:ext cx="544068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7960" y="4617720"/>
            <a:ext cx="457200" cy="457200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104888" y="46177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결과</a:t>
            </a:r>
            <a:endParaRPr lang="en-US" sz="1500" dirty="0"/>
          </a:p>
        </p:txBody>
      </p:sp>
      <p:sp>
        <p:nvSpPr>
          <p:cNvPr id="32" name="Text 25"/>
          <p:cNvSpPr/>
          <p:nvPr/>
        </p:nvSpPr>
        <p:spPr>
          <a:xfrm>
            <a:off x="6537960" y="512064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PM2.5·PM10 전 측정소 ‘불량 위험’ 식별</a:t>
            </a:r>
            <a:endParaRPr lang="en-US" sz="13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 45% → 2% 개선</a:t>
            </a:r>
            <a:endParaRPr lang="en-US" sz="1350" dirty="0"/>
          </a:p>
        </p:txBody>
      </p:sp>
      <p:sp>
        <p:nvSpPr>
          <p:cNvPr id="33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대상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6종 · 측정소 5곳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지표 (품질특성 CQA)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731520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초미세먼지 · 우선관리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42032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FDEDED"/>
          </a:solidFill>
          <a:ln/>
        </p:spPr>
      </p:sp>
      <p:sp>
        <p:nvSpPr>
          <p:cNvPr id="11" name="Text 9"/>
          <p:cNvSpPr/>
          <p:nvPr/>
        </p:nvSpPr>
        <p:spPr>
          <a:xfrm>
            <a:off x="2542032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PM10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2633472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미세먼지 · 우선관리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443984" y="1965960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4" name="Text 12"/>
          <p:cNvSpPr/>
          <p:nvPr/>
        </p:nvSpPr>
        <p:spPr>
          <a:xfrm>
            <a:off x="4443984" y="2112264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NO₂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535424" y="2587752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이산화질소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40080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O₃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731520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오존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2542032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0" name="Text 18"/>
          <p:cNvSpPr/>
          <p:nvPr/>
        </p:nvSpPr>
        <p:spPr>
          <a:xfrm>
            <a:off x="2542032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SO₂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2633472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아황산가스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443984" y="3273552"/>
            <a:ext cx="1783080" cy="1051560"/>
          </a:xfrm>
          <a:prstGeom prst="roundRect">
            <a:avLst>
              <a:gd name="adj" fmla="val 6957"/>
            </a:avLst>
          </a:prstGeom>
          <a:solidFill>
            <a:srgbClr val="EEF1FB"/>
          </a:solidFill>
          <a:ln/>
        </p:spPr>
      </p:sp>
      <p:sp>
        <p:nvSpPr>
          <p:cNvPr id="23" name="Text 21"/>
          <p:cNvSpPr/>
          <p:nvPr/>
        </p:nvSpPr>
        <p:spPr>
          <a:xfrm>
            <a:off x="4443984" y="3419856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4535424" y="3895344"/>
            <a:ext cx="1600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일산화탄소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40080" y="4526280"/>
            <a:ext cx="5760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환경기준 · LSL=0 (단측 규격). 실제 배치공정 양측 규격(USL+LSL)에도 동일 Cpk 산식 적용 가능.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15087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(공정 라인)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6537960" y="196596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6702552" y="2112264"/>
            <a:ext cx="48371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29" name="Text 27"/>
          <p:cNvSpPr/>
          <p:nvPr/>
        </p:nvSpPr>
        <p:spPr>
          <a:xfrm>
            <a:off x="6812280" y="221284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영향군 · 4곳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6812280" y="260604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오창(반도체) · 복대 · 봉명(SK하이닉스 청주캠퍼스 권역) · 오송(바이오)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537960" y="3474720"/>
            <a:ext cx="5166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02552" y="3621024"/>
            <a:ext cx="4837176" cy="64008"/>
          </a:xfrm>
          <a:prstGeom prst="rect">
            <a:avLst/>
          </a:prstGeom>
          <a:solidFill>
            <a:srgbClr val="9AA5B1"/>
          </a:solidFill>
          <a:ln/>
        </p:spPr>
      </p:sp>
      <p:sp>
        <p:nvSpPr>
          <p:cNvPr id="33" name="Text 31"/>
          <p:cNvSpPr/>
          <p:nvPr/>
        </p:nvSpPr>
        <p:spPr>
          <a:xfrm>
            <a:off x="6812280" y="372160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베이스라인 · 1곳 (대조군)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6812280" y="411480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용암동 — 거주지 기준선. 산단 영향군과의 평균차를 Welch t-test로 검정</a:t>
            </a:r>
            <a:endParaRPr lang="en-US" sz="1250" dirty="0"/>
          </a:p>
        </p:txBody>
      </p:sp>
      <p:sp>
        <p:nvSpPr>
          <p:cNvPr id="35" name="Shape 33"/>
          <p:cNvSpPr/>
          <p:nvPr/>
        </p:nvSpPr>
        <p:spPr>
          <a:xfrm>
            <a:off x="640080" y="512064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EEF1FB"/>
          </a:solidFill>
          <a:ln/>
        </p:spPr>
      </p:sp>
      <p:sp>
        <p:nvSpPr>
          <p:cNvPr id="36" name="Shape 34"/>
          <p:cNvSpPr/>
          <p:nvPr/>
        </p:nvSpPr>
        <p:spPr>
          <a:xfrm>
            <a:off x="868680" y="5330952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37" name="Text 35"/>
          <p:cNvSpPr/>
          <p:nvPr/>
        </p:nvSpPr>
        <p:spPr>
          <a:xfrm>
            <a:off x="868680" y="5330952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인사이트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2423160" y="5120640"/>
            <a:ext cx="9144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× 5측정소 = 30개 ‘공정-품질특성’ 조합을 1시간 해상도로 상시 모니터링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 시스템 — 아키텍처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무중단 · 무비용 · 무누락 자동 파이프라인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스케줄러가 GitHub Actions를 트리거 → 수집·저장·배포·알림까지 서버리스 무중단 운영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85800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7028" y="2514600"/>
            <a:ext cx="512064" cy="512064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22376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cron-job.org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722376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스케줄러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560320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2944368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1F40E6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5596" y="2514600"/>
            <a:ext cx="512064" cy="512064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2980944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</a:t>
            </a:r>
            <a:endParaRPr lang="en-US" sz="1250" dirty="0"/>
          </a:p>
        </p:txBody>
      </p:sp>
      <p:sp>
        <p:nvSpPr>
          <p:cNvPr id="18" name="Text 14"/>
          <p:cNvSpPr/>
          <p:nvPr/>
        </p:nvSpPr>
        <p:spPr>
          <a:xfrm>
            <a:off x="2980944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서버리스 수집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818888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5202936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4164" y="2514600"/>
            <a:ext cx="512064" cy="5120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5239512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에어코리아 API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5239512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시간당 측정</a:t>
            </a:r>
            <a:endParaRPr lang="en-US" sz="1000" dirty="0"/>
          </a:p>
        </p:txBody>
      </p:sp>
      <p:sp>
        <p:nvSpPr>
          <p:cNvPr id="24" name="Text 19"/>
          <p:cNvSpPr/>
          <p:nvPr/>
        </p:nvSpPr>
        <p:spPr>
          <a:xfrm>
            <a:off x="7077456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25" name="Shape 20"/>
          <p:cNvSpPr/>
          <p:nvPr/>
        </p:nvSpPr>
        <p:spPr>
          <a:xfrm>
            <a:off x="7461504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2732" y="2514600"/>
            <a:ext cx="512064" cy="512064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7498080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SQLite</a:t>
            </a:r>
            <a:endParaRPr lang="en-US" sz="1250" dirty="0"/>
          </a:p>
        </p:txBody>
      </p:sp>
      <p:sp>
        <p:nvSpPr>
          <p:cNvPr id="28" name="Text 22"/>
          <p:cNvSpPr/>
          <p:nvPr/>
        </p:nvSpPr>
        <p:spPr>
          <a:xfrm>
            <a:off x="7498080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중복 안전 저장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9336024" y="2514600"/>
            <a:ext cx="38404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3000" dirty="0"/>
          </a:p>
        </p:txBody>
      </p:sp>
      <p:sp>
        <p:nvSpPr>
          <p:cNvPr id="30" name="Shape 24"/>
          <p:cNvSpPr/>
          <p:nvPr/>
        </p:nvSpPr>
        <p:spPr>
          <a:xfrm>
            <a:off x="9720072" y="2331720"/>
            <a:ext cx="1874520" cy="1234440"/>
          </a:xfrm>
          <a:prstGeom prst="roundRect">
            <a:avLst>
              <a:gd name="adj" fmla="val 7407"/>
            </a:avLst>
          </a:prstGeom>
          <a:solidFill>
            <a:srgbClr val="EEF1FB"/>
          </a:solidFill>
          <a:ln/>
        </p:spPr>
      </p:sp>
      <p:pic>
        <p:nvPicPr>
          <p:cNvPr id="3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1300" y="2514600"/>
            <a:ext cx="512064" cy="512064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9756648" y="3044952"/>
            <a:ext cx="18013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Streamlit</a:t>
            </a:r>
            <a:endParaRPr lang="en-US" sz="1250" dirty="0"/>
          </a:p>
        </p:txBody>
      </p:sp>
      <p:sp>
        <p:nvSpPr>
          <p:cNvPr id="33" name="Text 26"/>
          <p:cNvSpPr/>
          <p:nvPr/>
        </p:nvSpPr>
        <p:spPr>
          <a:xfrm>
            <a:off x="9756648" y="3300984"/>
            <a:ext cx="180136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대시보드 배포</a:t>
            </a:r>
            <a:endParaRPr lang="en-US" sz="1000" dirty="0"/>
          </a:p>
        </p:txBody>
      </p:sp>
      <p:sp>
        <p:nvSpPr>
          <p:cNvPr id="34" name="Text 27"/>
          <p:cNvSpPr/>
          <p:nvPr/>
        </p:nvSpPr>
        <p:spPr>
          <a:xfrm>
            <a:off x="685800" y="39776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도구 및 방법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4389120"/>
          <a:ext cx="110185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864108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· 저장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requests(지수 백오프) · SQLite + SQLModel · self-healing 백필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통계 · 분석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Cp/Cpk · 관리도(I/EWMA/CUSUM) · 잔차 관리도 · WE Rules · scipy(t-test/ANOVA)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이상탐지 · 알림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scikit-learn IsolationForest · Discord Webhook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자동화 · 품질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4506A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GitHub Actions · pytest 220건 · uv · Streamlit Cloud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6" name="Text 28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수집 성과 &amp; 농도 추세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 무중단 13,815건 · PM2.5 일별 추세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13,815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 누적 건수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3419856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0" name="Text 8"/>
          <p:cNvSpPr/>
          <p:nvPr/>
        </p:nvSpPr>
        <p:spPr>
          <a:xfrm>
            <a:off x="3419856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3419856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 무중단 수집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199632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3" name="Text 11"/>
          <p:cNvSpPr/>
          <p:nvPr/>
        </p:nvSpPr>
        <p:spPr>
          <a:xfrm>
            <a:off x="6199632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15일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99632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USL 초과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8979408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EF1FB"/>
          </a:solidFill>
          <a:ln/>
        </p:spPr>
      </p:sp>
      <p:sp>
        <p:nvSpPr>
          <p:cNvPr id="16" name="Text 14"/>
          <p:cNvSpPr/>
          <p:nvPr/>
        </p:nvSpPr>
        <p:spPr>
          <a:xfrm>
            <a:off x="8979408" y="159105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8979408" y="23317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</a:t>
            </a:r>
            <a:endParaRPr lang="en-US" sz="1250" dirty="0"/>
          </a:p>
        </p:txBody>
      </p:sp>
      <p:pic>
        <p:nvPicPr>
          <p:cNvPr id="18" name="Image 0" descr="/Users/t2025-m0190/workspace/chungbuk-air-quality-monitor/scripts/portfolio_deck/img/ts_pm2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2926080"/>
            <a:ext cx="7132320" cy="3274402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955280" y="2926080"/>
            <a:ext cx="374904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8229600" y="315468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수집을 넘어 ‘신호’까지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8229600" y="3611880"/>
            <a:ext cx="3246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&gt; 거주지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산단 영향군 일평균이 대부분 거주지보다 높고, 환경기준(USL 35)을 117일 중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15일 초과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50" dirty="0"/>
          </a:p>
        </p:txBody>
      </p:sp>
      <p:sp>
        <p:nvSpPr>
          <p:cNvPr id="22" name="Text 19"/>
          <p:cNvSpPr/>
          <p:nvPr/>
        </p:nvSpPr>
        <p:spPr>
          <a:xfrm>
            <a:off x="8229600" y="4800600"/>
            <a:ext cx="3246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self-healing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— cron 드롭이 나도 다음 실행이 직전 24h 갭을 멱등 복구해 </a:t>
            </a:r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데이터는 무결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.</a:t>
            </a:r>
            <a:endParaRPr lang="en-US" sz="1250" dirty="0"/>
          </a:p>
        </p:txBody>
      </p:sp>
      <p:sp>
        <p:nvSpPr>
          <p:cNvPr id="23" name="Text 20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점검 — 전처리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6종 오염물질 분포 · 결측/이상치 확인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box_gri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508760"/>
            <a:ext cx="9692640" cy="448140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640080" y="5943600"/>
            <a:ext cx="11064240" cy="658368"/>
          </a:xfrm>
          <a:prstGeom prst="roundRect">
            <a:avLst>
              <a:gd name="adj" fmla="val 11111"/>
            </a:avLst>
          </a:prstGeom>
          <a:solidFill>
            <a:srgbClr val="EEF1FB"/>
          </a:solidFill>
          <a:ln/>
        </p:spPr>
      </p:sp>
      <p:sp>
        <p:nvSpPr>
          <p:cNvPr id="8" name="Shape 5"/>
          <p:cNvSpPr/>
          <p:nvPr/>
        </p:nvSpPr>
        <p:spPr>
          <a:xfrm>
            <a:off x="841248" y="6071616"/>
            <a:ext cx="1371600" cy="40233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9" name="Text 6"/>
          <p:cNvSpPr/>
          <p:nvPr/>
        </p:nvSpPr>
        <p:spPr>
          <a:xfrm>
            <a:off x="841248" y="6071616"/>
            <a:ext cx="1371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전처리 결과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2377440" y="5943600"/>
            <a:ext cx="9144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결측 0건 · 측정값 범위 정상 — 측정시각(data_time)·수집시각(created_at) 분리 기록 = audit trail·ALCOA+ 데이터 무결성 원칙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기준 설정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관리도 vs 자기상관 보정 잔차 관리도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91440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(i.i.d. 가정)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480060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9AA5B1"/>
          </a:solidFill>
          <a:ln/>
        </p:spPr>
      </p:sp>
      <p:sp>
        <p:nvSpPr>
          <p:cNvPr id="9" name="Text 7"/>
          <p:cNvSpPr/>
          <p:nvPr/>
        </p:nvSpPr>
        <p:spPr>
          <a:xfrm>
            <a:off x="480060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부적합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대기질은 강한 시계열 자기상관(PM2.5 lag-1 ACF ≈ 0.93)을 가진다.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33756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2" name="Text 10"/>
          <p:cNvSpPr/>
          <p:nvPr/>
        </p:nvSpPr>
        <p:spPr>
          <a:xfrm>
            <a:off x="118872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독립 가정 붕괴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18872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인접 관측치가 강하게 상관 → MR 기반 σ 과소추정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914400" y="411480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5" name="Text 13"/>
          <p:cNvSpPr/>
          <p:nvPr/>
        </p:nvSpPr>
        <p:spPr>
          <a:xfrm>
            <a:off x="118872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협소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한계선이 좁아져 정상 변동도 이탈로 오판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914400" y="4892040"/>
            <a:ext cx="146304" cy="146304"/>
          </a:xfrm>
          <a:prstGeom prst="ellipse">
            <a:avLst/>
          </a:prstGeom>
          <a:solidFill>
            <a:srgbClr val="E04646"/>
          </a:solidFill>
          <a:ln/>
        </p:spPr>
      </p:sp>
      <p:sp>
        <p:nvSpPr>
          <p:cNvPr id="18" name="Text 16"/>
          <p:cNvSpPr/>
          <p:nvPr/>
        </p:nvSpPr>
        <p:spPr>
          <a:xfrm>
            <a:off x="118872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거짓경보 폭증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18872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45% — 특수원인 식별 불가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63640" y="1554480"/>
            <a:ext cx="5440680" cy="4206240"/>
          </a:xfrm>
          <a:prstGeom prst="roundRect">
            <a:avLst>
              <a:gd name="adj" fmla="val 1739"/>
            </a:avLst>
          </a:prstGeom>
          <a:solidFill>
            <a:srgbClr val="F0F8F6"/>
          </a:solidFill>
          <a:ln w="12700">
            <a:solidFill>
              <a:srgbClr val="B9E0D8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537960" y="1828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(자기상관 보정)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424160" y="1874520"/>
            <a:ext cx="1051560" cy="384048"/>
          </a:xfrm>
          <a:prstGeom prst="roundRect">
            <a:avLst>
              <a:gd name="adj" fmla="val 50000"/>
            </a:avLst>
          </a:prstGeom>
          <a:solidFill>
            <a:srgbClr val="0E9488"/>
          </a:solidFill>
          <a:ln/>
        </p:spPr>
      </p:sp>
      <p:sp>
        <p:nvSpPr>
          <p:cNvPr id="23" name="Text 21"/>
          <p:cNvSpPr/>
          <p:nvPr/>
        </p:nvSpPr>
        <p:spPr>
          <a:xfrm>
            <a:off x="10424160" y="1874520"/>
            <a:ext cx="1051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채택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537960" y="24688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일주기(시간대) 효과 제거 + AR(1) 잔차에 관리도를 적용해 독립성을 회복.</a:t>
            </a:r>
            <a:endParaRPr lang="en-US" sz="1300" dirty="0"/>
          </a:p>
        </p:txBody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3291840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858000" y="3291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백색화 성공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6858000" y="356616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ACF 0.93 → ≈0(−0.03), 잔차가 독립에 근접</a:t>
            </a:r>
            <a:endParaRPr lang="en-US" sz="1150" dirty="0"/>
          </a:p>
        </p:txBody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4069080"/>
            <a:ext cx="201168" cy="201168"/>
          </a:xfrm>
          <a:prstGeom prst="rect">
            <a:avLst/>
          </a:prstGeom>
        </p:spPr>
      </p:pic>
      <p:sp>
        <p:nvSpPr>
          <p:cNvPr id="29" name="Text 25"/>
          <p:cNvSpPr/>
          <p:nvPr/>
        </p:nvSpPr>
        <p:spPr>
          <a:xfrm>
            <a:off x="6858000" y="40690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관리한계 정상화</a:t>
            </a:r>
            <a:endParaRPr lang="en-US" sz="1300" dirty="0"/>
          </a:p>
        </p:txBody>
      </p:sp>
      <p:sp>
        <p:nvSpPr>
          <p:cNvPr id="30" name="Text 26"/>
          <p:cNvSpPr/>
          <p:nvPr/>
        </p:nvSpPr>
        <p:spPr>
          <a:xfrm>
            <a:off x="6858000" y="43434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명목 거짓경보율(0.27%) 수준으로 복원</a:t>
            </a:r>
            <a:endParaRPr lang="en-US" sz="1150" dirty="0"/>
          </a:p>
        </p:txBody>
      </p:sp>
      <p:pic>
        <p:nvPicPr>
          <p:cNvPr id="3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7960" y="4846320"/>
            <a:ext cx="201168" cy="201168"/>
          </a:xfrm>
          <a:prstGeom prst="rect">
            <a:avLst/>
          </a:prstGeom>
        </p:spPr>
      </p:pic>
      <p:sp>
        <p:nvSpPr>
          <p:cNvPr id="32" name="Text 27"/>
          <p:cNvSpPr/>
          <p:nvPr/>
        </p:nvSpPr>
        <p:spPr>
          <a:xfrm>
            <a:off x="6858000" y="4846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진짜 신호만 탐지</a:t>
            </a:r>
            <a:endParaRPr lang="en-US" sz="1300" dirty="0"/>
          </a:p>
        </p:txBody>
      </p:sp>
      <p:sp>
        <p:nvSpPr>
          <p:cNvPr id="33" name="Text 28"/>
          <p:cNvSpPr/>
          <p:nvPr/>
        </p:nvSpPr>
        <p:spPr>
          <a:xfrm>
            <a:off x="6858000" y="51206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실측 이탈률 45% → 2%, 특수원인 후보만 남김</a:t>
            </a:r>
            <a:endParaRPr lang="en-US" sz="1150" dirty="0"/>
          </a:p>
        </p:txBody>
      </p:sp>
      <p:sp>
        <p:nvSpPr>
          <p:cNvPr id="34" name="Text 29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공정능력지수 Cpk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측정소 × 오염물질 30개 조합 진단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cpk_heat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2148840"/>
            <a:ext cx="7040880" cy="31693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532120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USL=대기환경보전법 일평균 환경기준(PM2.5 35㎍/㎥ 등) · LSL=0 · Cpk&lt;1.0=불량 위험 · Cpk≥1.33=양호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8092440" y="1783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DEDED"/>
          </a:solidFill>
          <a:ln/>
        </p:spPr>
      </p:sp>
      <p:sp>
        <p:nvSpPr>
          <p:cNvPr id="9" name="Text 6"/>
          <p:cNvSpPr/>
          <p:nvPr/>
        </p:nvSpPr>
        <p:spPr>
          <a:xfrm>
            <a:off x="8321040" y="20116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우선 관리 — PM2.5 · PM10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8321040" y="2450592"/>
            <a:ext cx="3200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 측정소에서 PM2.5·PM10·O₃·NO₂가 Cpk &lt; 1.0 ‘불량 위험’. 특히 오송읍 PM2.5 Cpk 0.3로 최저 → 1순위 관리 대상. 미세먼지가 구조적 핵심 인자.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8092440" y="4069080"/>
            <a:ext cx="3611880" cy="2057400"/>
          </a:xfrm>
          <a:prstGeom prst="roundRect">
            <a:avLst>
              <a:gd name="adj" fmla="val 355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321040" y="4315968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 양호 — SO₂ · CO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8321040" y="475488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Cpk ≥ 1.2로 규격 대비 여유. Cp/Cpk·USL은 대기환경보전법 환경기준(일·연평균) 기반으로 산출.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자기상관 보정 성과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관리도로 거짓경보율 45% → 2% 정상화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residual_b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554480"/>
            <a:ext cx="7589520" cy="2750743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549640" y="173736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8" name="Text 5"/>
          <p:cNvSpPr/>
          <p:nvPr/>
        </p:nvSpPr>
        <p:spPr>
          <a:xfrm>
            <a:off x="8549640" y="190195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549640" y="214884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E0464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45%</a:t>
            </a:r>
            <a:endParaRPr lang="en-US" sz="5000" dirty="0"/>
          </a:p>
        </p:txBody>
      </p:sp>
      <p:sp>
        <p:nvSpPr>
          <p:cNvPr id="10" name="Text 7"/>
          <p:cNvSpPr/>
          <p:nvPr/>
        </p:nvSpPr>
        <p:spPr>
          <a:xfrm>
            <a:off x="8549640" y="292608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전통 I-Chart 거짓경보율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549640" y="3346704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▼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8549640" y="3703320"/>
            <a:ext cx="3154680" cy="1554480"/>
          </a:xfrm>
          <a:prstGeom prst="roundRect">
            <a:avLst>
              <a:gd name="adj" fmla="val 4706"/>
            </a:avLst>
          </a:prstGeom>
          <a:solidFill>
            <a:srgbClr val="F0F8F6"/>
          </a:solidFill>
          <a:ln/>
        </p:spPr>
      </p:sp>
      <p:sp>
        <p:nvSpPr>
          <p:cNvPr id="13" name="Text 10"/>
          <p:cNvSpPr/>
          <p:nvPr/>
        </p:nvSpPr>
        <p:spPr>
          <a:xfrm>
            <a:off x="8549640" y="3867912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8549640" y="4114800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0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2%</a:t>
            </a:r>
            <a:endParaRPr lang="en-US" sz="5000" dirty="0"/>
          </a:p>
        </p:txBody>
      </p:sp>
      <p:sp>
        <p:nvSpPr>
          <p:cNvPr id="15" name="Text 12"/>
          <p:cNvSpPr/>
          <p:nvPr/>
        </p:nvSpPr>
        <p:spPr>
          <a:xfrm>
            <a:off x="8549640" y="4892040"/>
            <a:ext cx="3154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B6B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잔차 관리도 거짓경보율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640080" y="585216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1F40E6"/>
          </a:solidFill>
          <a:ln/>
        </p:spPr>
      </p:sp>
      <p:sp>
        <p:nvSpPr>
          <p:cNvPr id="17" name="Text 14"/>
          <p:cNvSpPr/>
          <p:nvPr/>
        </p:nvSpPr>
        <p:spPr>
          <a:xfrm>
            <a:off x="960120" y="5852160"/>
            <a:ext cx="10607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  </a:t>
            </a:r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|   원시 관리도의 이탈은 대부분 자기상관에 의한 거짓경보 — 잔차에 남는 이탈만이 진짜 특수원인 후보</a:t>
            </a:r>
            <a:endParaRPr lang="en-US" sz="13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 분석 — 단지 비교 &amp; 변동의 출처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산단 vs 거주지(Welch t-test) + PM2.5 분산분해</a:t>
            </a:r>
            <a:endParaRPr lang="en-US" sz="1300" dirty="0"/>
          </a:p>
        </p:txBody>
      </p:sp>
      <p:pic>
        <p:nvPicPr>
          <p:cNvPr id="6" name="Image 0" descr="/Users/t2025-m0190/workspace/chungbuk-air-quality-monitor/scripts/portfolio_deck/img/group_bo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554480"/>
            <a:ext cx="5852160" cy="327721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5029200"/>
            <a:ext cx="6035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i="1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전체 누적 13,815건 중 PM2.5 유효 13,144건(결측 제외) = 산단 4측정소(합산) + 거주지 1측정소.</a:t>
            </a:r>
            <a:endParaRPr lang="en-US" sz="950" dirty="0"/>
          </a:p>
        </p:txBody>
      </p:sp>
      <p:pic>
        <p:nvPicPr>
          <p:cNvPr id="8" name="Image 1" descr="/Users/t2025-m0190/workspace/chungbuk-air-quality-monitor/scripts/portfolio_deck/img/variance_decom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532120"/>
            <a:ext cx="6035040" cy="928468"/>
          </a:xfrm>
          <a:prstGeom prst="rect">
            <a:avLst/>
          </a:prstGeom>
        </p:spPr>
      </p:pic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1691640"/>
            <a:ext cx="384048" cy="38404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7242048" y="1691640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검증 결과 — 진짜 변동 원인</a:t>
            </a:r>
            <a:endParaRPr lang="en-US" sz="1600" dirty="0"/>
          </a:p>
        </p:txBody>
      </p:sp>
      <p:sp>
        <p:nvSpPr>
          <p:cNvPr id="11" name="Shape 6"/>
          <p:cNvSpPr/>
          <p:nvPr/>
        </p:nvSpPr>
        <p:spPr>
          <a:xfrm>
            <a:off x="6766560" y="2212848"/>
            <a:ext cx="4937760" cy="0"/>
          </a:xfrm>
          <a:prstGeom prst="line">
            <a:avLst/>
          </a:prstGeom>
          <a:noFill/>
          <a:ln w="12700">
            <a:solidFill>
              <a:srgbClr val="DCE3F2"/>
            </a:solidFill>
            <a:prstDash val="solid"/>
          </a:ln>
        </p:spPr>
      </p:sp>
      <p:sp>
        <p:nvSpPr>
          <p:cNvPr id="12" name="Text 7"/>
          <p:cNvSpPr/>
          <p:nvPr/>
        </p:nvSpPr>
        <p:spPr>
          <a:xfrm>
            <a:off x="6766560" y="23774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Welch t-test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로 산단&gt;거주지 평균차의 유의성을 검정했지만, 두 분포는 크게 겹친다.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6766560" y="3337560"/>
            <a:ext cx="4937760" cy="1371600"/>
          </a:xfrm>
          <a:prstGeom prst="roundRect">
            <a:avLst>
              <a:gd name="adj" fmla="val 5333"/>
            </a:avLst>
          </a:prstGeom>
          <a:solidFill>
            <a:srgbClr val="EEF1FB"/>
          </a:solidFill>
          <a:ln/>
        </p:spPr>
      </p:sp>
      <p:sp>
        <p:nvSpPr>
          <p:cNvPr id="14" name="Text 9"/>
          <p:cNvSpPr/>
          <p:nvPr/>
        </p:nvSpPr>
        <p:spPr>
          <a:xfrm>
            <a:off x="6995160" y="3520440"/>
            <a:ext cx="4526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위치(측정소)는 PM2.5 총변동의 2.4%만 설명</a:t>
            </a:r>
            <a:endParaRPr lang="en-US" sz="12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시간·기상이 97.6% — 변동의 대부분은 ‘어디서’가 아니라 ‘언제’.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6766560" y="4892040"/>
            <a:ext cx="4937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결론: </a:t>
            </a:r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‘라인(위치)별 관리’가 아니라 ‘공통원인(시계열) 관리’가 답. 잔차 관리도가 바로 그 해법.</a:t>
            </a:r>
            <a:endParaRPr lang="en-US" sz="1250" dirty="0"/>
          </a:p>
        </p:txBody>
      </p:sp>
      <p:sp>
        <p:nvSpPr>
          <p:cNvPr id="16" name="Text 11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이상 탐지 자동화 &amp; 실시간 알림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 · IsolationForest · Discord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04672" y="1837944"/>
            <a:ext cx="3236976" cy="64008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8" name="Shape 6"/>
          <p:cNvSpPr/>
          <p:nvPr/>
        </p:nvSpPr>
        <p:spPr>
          <a:xfrm>
            <a:off x="93268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2514600"/>
            <a:ext cx="457200" cy="45720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95097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0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95097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Western Electric Rules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95097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추세·쏠림·허깅·지그재그 등 8개 비랜덤 패턴 자동 판정. 3σ 이탈만 보던 한계를 넘어 특수원인 신호를 조기 포착.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34340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07992" y="1837944"/>
            <a:ext cx="3236976" cy="64008"/>
          </a:xfrm>
          <a:prstGeom prst="rect">
            <a:avLst/>
          </a:prstGeom>
          <a:solidFill>
            <a:srgbClr val="0E9488"/>
          </a:solidFill>
          <a:ln/>
        </p:spPr>
      </p:sp>
      <p:sp>
        <p:nvSpPr>
          <p:cNvPr id="15" name="Shape 12"/>
          <p:cNvSpPr/>
          <p:nvPr/>
        </p:nvSpPr>
        <p:spPr>
          <a:xfrm>
            <a:off x="463600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64608" y="2514600"/>
            <a:ext cx="457200" cy="45720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5429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948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4"/>
          <p:cNvSpPr/>
          <p:nvPr/>
        </p:nvSpPr>
        <p:spPr>
          <a:xfrm>
            <a:off x="465429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IsolationForest</a:t>
            </a:r>
            <a:endParaRPr lang="en-US" sz="1650" dirty="0"/>
          </a:p>
        </p:txBody>
      </p:sp>
      <p:sp>
        <p:nvSpPr>
          <p:cNvPr id="19" name="Text 15"/>
          <p:cNvSpPr/>
          <p:nvPr/>
        </p:nvSpPr>
        <p:spPr>
          <a:xfrm>
            <a:off x="465429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6개 오염물질을 동시에 보는 다변량 이상 탐지. 단변량 관리도가 놓치는 복합 이상 패턴을 비지도 학습으로 식별.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8046720" y="1691640"/>
            <a:ext cx="3566160" cy="3657600"/>
          </a:xfrm>
          <a:prstGeom prst="roundRect">
            <a:avLst>
              <a:gd name="adj" fmla="val 2051"/>
            </a:avLst>
          </a:prstGeom>
          <a:solidFill>
            <a:srgbClr val="FFFFFF"/>
          </a:solidFill>
          <a:ln w="12700">
            <a:solidFill>
              <a:srgbClr val="DCE3F2"/>
            </a:solidFill>
            <a:prstDash val="solid"/>
          </a:ln>
          <a:effectLst>
            <a:outerShdw sx="100000" sy="100000" kx="0" ky="0" algn="bl" rotWithShape="0" blurRad="101600" dist="25400" dir="5400000">
              <a:srgbClr val="8794B5">
                <a:alpha val="22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211312" y="1837944"/>
            <a:ext cx="3236976" cy="64008"/>
          </a:xfrm>
          <a:prstGeom prst="rect">
            <a:avLst/>
          </a:prstGeom>
          <a:solidFill>
            <a:srgbClr val="C77B16"/>
          </a:solidFill>
          <a:ln/>
        </p:spPr>
      </p:sp>
      <p:sp>
        <p:nvSpPr>
          <p:cNvPr id="22" name="Shape 18"/>
          <p:cNvSpPr/>
          <p:nvPr/>
        </p:nvSpPr>
        <p:spPr>
          <a:xfrm>
            <a:off x="8339328" y="2286000"/>
            <a:ext cx="914400" cy="914400"/>
          </a:xfrm>
          <a:prstGeom prst="ellipse">
            <a:avLst/>
          </a:prstGeom>
          <a:solidFill>
            <a:srgbClr val="EEF1FB"/>
          </a:solidFill>
          <a:ln/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67928" y="2514600"/>
            <a:ext cx="457200" cy="45720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3375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77B1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300" dirty="0"/>
          </a:p>
        </p:txBody>
      </p:sp>
      <p:sp>
        <p:nvSpPr>
          <p:cNvPr id="25" name="Text 20"/>
          <p:cNvSpPr/>
          <p:nvPr/>
        </p:nvSpPr>
        <p:spPr>
          <a:xfrm>
            <a:off x="8357616" y="3639312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6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Discord 실시간 알림</a:t>
            </a:r>
            <a:endParaRPr lang="en-US" sz="1650" dirty="0"/>
          </a:p>
        </p:txBody>
      </p:sp>
      <p:sp>
        <p:nvSpPr>
          <p:cNvPr id="26" name="Text 21"/>
          <p:cNvSpPr/>
          <p:nvPr/>
        </p:nvSpPr>
        <p:spPr>
          <a:xfrm>
            <a:off x="8357616" y="4315968"/>
            <a:ext cx="2971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4506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 수집 후 Cpk 미달·룰 위반을 점검해 Webhook 전송. 위험/주의/정상 색상 코드로 즉시 인지.</a:t>
            </a:r>
            <a:endParaRPr lang="en-US" sz="1200" dirty="0"/>
          </a:p>
        </p:txBody>
      </p:sp>
      <p:sp>
        <p:nvSpPr>
          <p:cNvPr id="27" name="Shape 22"/>
          <p:cNvSpPr/>
          <p:nvPr/>
        </p:nvSpPr>
        <p:spPr>
          <a:xfrm>
            <a:off x="640080" y="5577840"/>
            <a:ext cx="11064240" cy="749808"/>
          </a:xfrm>
          <a:prstGeom prst="roundRect">
            <a:avLst>
              <a:gd name="adj" fmla="val 9756"/>
            </a:avLst>
          </a:prstGeom>
          <a:solidFill>
            <a:srgbClr val="EEF1FB"/>
          </a:solidFill>
          <a:ln/>
        </p:spPr>
      </p:sp>
      <p:sp>
        <p:nvSpPr>
          <p:cNvPr id="28" name="Shape 23"/>
          <p:cNvSpPr/>
          <p:nvPr/>
        </p:nvSpPr>
        <p:spPr>
          <a:xfrm>
            <a:off x="841248" y="5733288"/>
            <a:ext cx="1371600" cy="438912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29" name="Text 24"/>
          <p:cNvSpPr/>
          <p:nvPr/>
        </p:nvSpPr>
        <p:spPr>
          <a:xfrm>
            <a:off x="841248" y="5733288"/>
            <a:ext cx="13716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Control</a:t>
            </a:r>
            <a:endParaRPr lang="en-US" sz="1200" dirty="0"/>
          </a:p>
        </p:txBody>
      </p:sp>
      <p:sp>
        <p:nvSpPr>
          <p:cNvPr id="30" name="Text 25"/>
          <p:cNvSpPr/>
          <p:nvPr/>
        </p:nvSpPr>
        <p:spPr>
          <a:xfrm>
            <a:off x="2377440" y="5577840"/>
            <a:ext cx="9144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DMAIC의 Control 단계 — 탐지에서 알림까지 완전 자동화로 지속 모니터링 체계 완성</a:t>
            </a:r>
            <a:endParaRPr lang="en-US" sz="1300" dirty="0"/>
          </a:p>
        </p:txBody>
      </p:sp>
      <p:sp>
        <p:nvSpPr>
          <p:cNvPr id="31" name="Text 26"/>
          <p:cNvSpPr/>
          <p:nvPr/>
        </p:nvSpPr>
        <p:spPr>
          <a:xfrm>
            <a:off x="11320272" y="6437376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현업 전이 — GMP · 품질관리로의 확장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역량이 실제 제조·품질 업무로 어떻게 이어지는가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11201400" cy="566928"/>
          </a:xfrm>
          <a:prstGeom prst="roundRect">
            <a:avLst>
              <a:gd name="adj" fmla="val 9677"/>
            </a:avLst>
          </a:prstGeom>
          <a:solidFill>
            <a:srgbClr val="EEF1FB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536192"/>
            <a:ext cx="1874520" cy="329184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8" name="Text 6"/>
          <p:cNvSpPr/>
          <p:nvPr/>
        </p:nvSpPr>
        <p:spPr>
          <a:xfrm>
            <a:off x="658368" y="1536192"/>
            <a:ext cx="1874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Governing Message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697480" y="1417320"/>
            <a:ext cx="8869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대기질로 검증한 SPC·통계·자동화 역량은 GMP 환경의 공정능력·일탈관리·밸리데이션으로 그대로 전이된다</a:t>
            </a:r>
            <a:endParaRPr lang="en-US" sz="13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94560"/>
          <a:ext cx="10927080" cy="914400"/>
        </p:xfrm>
        <a:graphic>
          <a:graphicData uri="http://schemas.openxmlformats.org/drawingml/2006/table">
            <a:tbl>
              <a:tblPr/>
              <a:tblGrid>
                <a:gridCol w="3977640"/>
                <a:gridCol w="6949440"/>
              </a:tblGrid>
              <a:tr h="43891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본 프로젝트에서 구현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GMP · 품질관리 현업 적용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Cp / Cpk 공정능력 산출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공정밸리데이션(PPQ) 공정능력 평가 · 규격(spec) 대비 여유 판정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관리도 + Western Electric Rules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 모니터링 · 일탈(deviation)·OOT 조기 탐지 · CAPA 연계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 보정 잔차 관리도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 있는 연속공정 변수의 올바른 관리한계 설정 (거짓경보 억제)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Welch t-test · ANOVA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배치 간·라인 간 비교 · 동등성은 TOST로 확장(p·Cohen’s d 산출 완료, 임계 ±δ만 추가)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IsolationForest 다변량 탐지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다변량 공정이상(MSPC) 탐지 · OOS/OOT 조사 트리거 · 원인변수 스크리닝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수집→분석→알림 자동화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MES / LIMS 품질데이터 모니터링 · ALCOA+ · Part 11 audit trail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640080" y="6035040"/>
            <a:ext cx="10927080" cy="566928"/>
          </a:xfrm>
          <a:prstGeom prst="roundRect">
            <a:avLst>
              <a:gd name="adj" fmla="val 12903"/>
            </a:avLst>
          </a:prstGeom>
          <a:solidFill>
            <a:srgbClr val="EEF1FB"/>
          </a:solidFill>
          <a:ln/>
        </p:spPr>
      </p:sp>
      <p:sp>
        <p:nvSpPr>
          <p:cNvPr id="12" name="Shape 9"/>
          <p:cNvSpPr/>
          <p:nvPr/>
        </p:nvSpPr>
        <p:spPr>
          <a:xfrm>
            <a:off x="841248" y="6163056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F40E6"/>
          </a:solidFill>
          <a:ln/>
        </p:spPr>
      </p:sp>
      <p:sp>
        <p:nvSpPr>
          <p:cNvPr id="13" name="Text 10"/>
          <p:cNvSpPr/>
          <p:nvPr/>
        </p:nvSpPr>
        <p:spPr>
          <a:xfrm>
            <a:off x="841248" y="6163056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생산관리 확장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2560320" y="6035040"/>
            <a:ext cx="9006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연속공정 SPC를 배치공정으로 확장 — 골든배치 대비 Mahalanobis 거리 · 배치 간 변동 ANOVA/혼합효과모형 · 수율 모니터링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F40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730A8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749808"/>
            <a:ext cx="502920" cy="502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80160" y="71323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성과 &amp; 입증 역량</a:t>
            </a:r>
            <a:endParaRPr lang="en-US" sz="2800" dirty="0"/>
          </a:p>
        </p:txBody>
      </p:sp>
      <p:sp>
        <p:nvSpPr>
          <p:cNvPr id="5" name="Shape 2"/>
          <p:cNvSpPr/>
          <p:nvPr/>
        </p:nvSpPr>
        <p:spPr>
          <a:xfrm>
            <a:off x="640080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6" name="Shape 3"/>
          <p:cNvSpPr/>
          <p:nvPr/>
        </p:nvSpPr>
        <p:spPr>
          <a:xfrm>
            <a:off x="868680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7" name="Text 4"/>
          <p:cNvSpPr/>
          <p:nvPr/>
        </p:nvSpPr>
        <p:spPr>
          <a:xfrm>
            <a:off x="685800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13,815건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731520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117일 무중단 수집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3419856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0" name="Shape 7"/>
          <p:cNvSpPr/>
          <p:nvPr/>
        </p:nvSpPr>
        <p:spPr>
          <a:xfrm>
            <a:off x="3648456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1" name="Text 8"/>
          <p:cNvSpPr/>
          <p:nvPr/>
        </p:nvSpPr>
        <p:spPr>
          <a:xfrm>
            <a:off x="3465576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45% → 2%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3511296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PM2.5 거짓경보율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6199632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4" name="Shape 11"/>
          <p:cNvSpPr/>
          <p:nvPr/>
        </p:nvSpPr>
        <p:spPr>
          <a:xfrm>
            <a:off x="6428232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5" name="Text 12"/>
          <p:cNvSpPr/>
          <p:nvPr/>
        </p:nvSpPr>
        <p:spPr>
          <a:xfrm>
            <a:off x="6245352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 + 다변량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6291072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 Rules · IForest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8979408" y="1783080"/>
            <a:ext cx="2651760" cy="1920240"/>
          </a:xfrm>
          <a:prstGeom prst="roundRect">
            <a:avLst>
              <a:gd name="adj" fmla="val 4762"/>
            </a:avLst>
          </a:prstGeom>
          <a:solidFill>
            <a:srgbClr val="2E4DEA"/>
          </a:solidFill>
          <a:ln/>
        </p:spPr>
      </p:sp>
      <p:sp>
        <p:nvSpPr>
          <p:cNvPr id="18" name="Shape 15"/>
          <p:cNvSpPr/>
          <p:nvPr/>
        </p:nvSpPr>
        <p:spPr>
          <a:xfrm>
            <a:off x="9208008" y="2011680"/>
            <a:ext cx="2194560" cy="54864"/>
          </a:xfrm>
          <a:prstGeom prst="rect">
            <a:avLst/>
          </a:prstGeom>
          <a:solidFill>
            <a:srgbClr val="9DB2FF"/>
          </a:solidFill>
          <a:ln/>
        </p:spPr>
      </p:sp>
      <p:sp>
        <p:nvSpPr>
          <p:cNvPr id="19" name="Text 16"/>
          <p:cNvSpPr/>
          <p:nvPr/>
        </p:nvSpPr>
        <p:spPr>
          <a:xfrm>
            <a:off x="9025128" y="2286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220 / 220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9070848" y="306324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6DE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회귀 테스트 통과</a:t>
            </a:r>
            <a:endParaRPr 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640080" y="4160520"/>
            <a:ext cx="10927080" cy="0"/>
          </a:xfrm>
          <a:prstGeom prst="line">
            <a:avLst/>
          </a:prstGeom>
          <a:noFill/>
          <a:ln w="12700">
            <a:solidFill>
              <a:srgbClr val="5A73E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0080" y="4343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9D4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입증한 역량</a:t>
            </a:r>
            <a:endParaRPr lang="en-US" sz="14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4800600"/>
            <a:ext cx="292608" cy="292608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10515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SPC · 6시그마 DMAIC 실데이터 적용</a:t>
            </a:r>
            <a:endParaRPr lang="en-US" sz="1350" dirty="0"/>
          </a:p>
        </p:txBody>
      </p:sp>
      <p:sp>
        <p:nvSpPr>
          <p:cNvPr id="25" name="Text 21"/>
          <p:cNvSpPr/>
          <p:nvPr/>
        </p:nvSpPr>
        <p:spPr>
          <a:xfrm>
            <a:off x="10515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Cp/Cpk·관리도·가설검정을 직접 구현</a:t>
            </a:r>
            <a:endParaRPr lang="en-US" sz="1100" dirty="0"/>
          </a:p>
        </p:txBody>
      </p:sp>
      <p:pic>
        <p:nvPicPr>
          <p:cNvPr id="2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97680" y="4800600"/>
            <a:ext cx="292608" cy="292608"/>
          </a:xfrm>
          <a:prstGeom prst="rect">
            <a:avLst/>
          </a:prstGeom>
        </p:spPr>
      </p:pic>
      <p:sp>
        <p:nvSpPr>
          <p:cNvPr id="27" name="Text 22"/>
          <p:cNvSpPr/>
          <p:nvPr/>
        </p:nvSpPr>
        <p:spPr>
          <a:xfrm>
            <a:off x="47091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파이프라인 무중단 자동화</a:t>
            </a:r>
            <a:endParaRPr lang="en-US" sz="1350" dirty="0"/>
          </a:p>
        </p:txBody>
      </p:sp>
      <p:sp>
        <p:nvSpPr>
          <p:cNvPr id="28" name="Text 23"/>
          <p:cNvSpPr/>
          <p:nvPr/>
        </p:nvSpPr>
        <p:spPr>
          <a:xfrm>
            <a:off x="47091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 Actions로 수집→분석→알림 무인 운영</a:t>
            </a:r>
            <a:endParaRPr lang="en-US" sz="1100" dirty="0"/>
          </a:p>
        </p:txBody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0" y="4800600"/>
            <a:ext cx="292608" cy="292608"/>
          </a:xfrm>
          <a:prstGeom prst="rect">
            <a:avLst/>
          </a:prstGeom>
        </p:spPr>
      </p:pic>
      <p:sp>
        <p:nvSpPr>
          <p:cNvPr id="30" name="Text 24"/>
          <p:cNvSpPr/>
          <p:nvPr/>
        </p:nvSpPr>
        <p:spPr>
          <a:xfrm>
            <a:off x="8366760" y="47548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통계적 엄밀성</a:t>
            </a:r>
            <a:endParaRPr lang="en-US" sz="1350" dirty="0"/>
          </a:p>
        </p:txBody>
      </p:sp>
      <p:sp>
        <p:nvSpPr>
          <p:cNvPr id="31" name="Text 25"/>
          <p:cNvSpPr/>
          <p:nvPr/>
        </p:nvSpPr>
        <p:spPr>
          <a:xfrm>
            <a:off x="8366760" y="534924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BCC8F5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자기상관 보정으로 거짓경보를 정량 개선</a:t>
            </a:r>
            <a:endParaRPr lang="en-US" sz="1100" dirty="0"/>
          </a:p>
        </p:txBody>
      </p:sp>
      <p:sp>
        <p:nvSpPr>
          <p:cNvPr id="32" name="Text 26"/>
          <p:cNvSpPr/>
          <p:nvPr/>
        </p:nvSpPr>
        <p:spPr>
          <a:xfrm>
            <a:off x="640080" y="6053328"/>
            <a:ext cx="10927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DB2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 </a:t>
            </a:r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역량은 GMP 환경의 공정능력(PPQ)·일탈관리·밸리데이션으로 그대로 전이됩니다</a:t>
            </a:r>
            <a:endParaRPr lang="en-US" sz="1300" dirty="0"/>
          </a:p>
        </p:txBody>
      </p:sp>
      <p:sp>
        <p:nvSpPr>
          <p:cNvPr id="33" name="Text 27"/>
          <p:cNvSpPr/>
          <p:nvPr/>
        </p:nvSpPr>
        <p:spPr>
          <a:xfrm>
            <a:off x="640080" y="64465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3D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github.com/robinho0329/chungbuk-air-quality-monitor   ·   라이브 대시보드 6페이지 운영 중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74320"/>
            <a:ext cx="10515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51B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예상 질문 &amp; 대응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30352" y="950976"/>
            <a:ext cx="64008" cy="237744"/>
          </a:xfrm>
          <a:prstGeom prst="rect">
            <a:avLst/>
          </a:prstGeom>
          <a:solidFill>
            <a:srgbClr val="1F40E6"/>
          </a:solidFill>
          <a:ln/>
        </p:spPr>
      </p:sp>
      <p:sp>
        <p:nvSpPr>
          <p:cNvPr id="5" name="Text 3"/>
          <p:cNvSpPr/>
          <p:nvPr/>
        </p:nvSpPr>
        <p:spPr>
          <a:xfrm>
            <a:off x="685800" y="91440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94A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— 면접 Q&amp;A 핵심</a:t>
            </a:r>
            <a:endParaRPr lang="en-US" sz="13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92708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7086600"/>
              </a:tblGrid>
              <a:tr h="4114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 질문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대응 요지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40E6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왜 제조 데이터가 아니라 대기질인가?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공정과 통계 구조가 같은 ‘실시간 실데이터’라 일부러 선택. 더미는 SPC가 잡아야 할 결측·이상·드리프트가 사라져 무의미.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대기질은 통제 불가인데 Improve는?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공정 조작 불가가 한계. Improve를 ‘방법론 개선(잔차 보정 거짓경보 45% → 2%)’ + alert/action 정책으로 매핑.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효과크기가 작은데(d≈0.2~0.3) 의미 있나?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표본 1만이라 유의는 당연. 그래서 효과크기·η²로 ‘실질 차이는 작다’를 정직히 보고 — 통계적 유의 ≠ 실질적 중요.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자기상관이 왜 그렇게 중요한가?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lag-1 ACF 0.93 → 유효표본 n_eff≈75로 명목 n의 1/27. p값이 과대평가됨. 잔차 관리도로 보정해 신호를 분리.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위치 차이가 작으면 결론은 뭔가?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151B2E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산포의 출처를 시간·기상(공통원인)으로 분리 → ‘라인별 관리’가 아니라 ‘공통원인 관리’가 답이라는 진단.</a:t>
                      </a:r>
                      <a:endParaRPr 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충북권 산업단지 대기질 SPC 모니터링</dc:title>
  <dc:subject>PptxGenJS Presentation</dc:subject>
  <dc:creator>유호빈</dc:creator>
  <cp:lastModifiedBy>유호빈</cp:lastModifiedBy>
  <cp:revision>1</cp:revision>
  <dcterms:created xsi:type="dcterms:W3CDTF">2026-06-24T03:37:40Z</dcterms:created>
  <dcterms:modified xsi:type="dcterms:W3CDTF">2026-06-24T03:37:40Z</dcterms:modified>
</cp:coreProperties>
</file>