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Shape 1"/>
          <p:cNvSpPr/>
          <p:nvPr/>
        </p:nvSpPr>
        <p:spPr>
          <a:xfrm>
            <a:off x="3246120" y="0"/>
            <a:ext cx="73152" cy="6858000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8600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AIR QUALITY · SPC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749040" y="14173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PORTFOLIO  |  QC · API 생산관리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749040" y="196596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충북권 산업단지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 SPC 모니터링 시스템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767328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공정관리(SPC) · 6시그마 DMAIC · 데이터 파이프라인 자동화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767328" y="4709160"/>
            <a:ext cx="7680960" cy="0"/>
          </a:xfrm>
          <a:prstGeom prst="line">
            <a:avLst/>
          </a:prstGeom>
          <a:noFill/>
          <a:ln w="19050">
            <a:solidFill>
              <a:srgbClr val="DCE3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67328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기간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2026.02.28 ~ 2026.06.16</a:t>
            </a:r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누적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12,835건 · 측정소 5곳 · 1시간 해상도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767328" y="5532120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2" name="Text 9"/>
          <p:cNvSpPr/>
          <p:nvPr/>
        </p:nvSpPr>
        <p:spPr>
          <a:xfrm>
            <a:off x="3767328" y="55321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유호빈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212080" y="553212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프로젝트  ·  github.com/robinho0329/chungbuk-air-quality-monitor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097280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607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 흐름으로 본 프로젝트 구성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37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37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vs 거주지, SPC 상시 감시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737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지표·측정소, 무중단 수집 아키텍처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737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수집·점검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37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 누적, 결측·이상치 점검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55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3" name="Text 21"/>
          <p:cNvSpPr/>
          <p:nvPr/>
        </p:nvSpPr>
        <p:spPr>
          <a:xfrm>
            <a:off x="6611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452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52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55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11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452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52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 · 잔차 관리도 · 단지 비교 검정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55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33" name="Text 31"/>
          <p:cNvSpPr/>
          <p:nvPr/>
        </p:nvSpPr>
        <p:spPr>
          <a:xfrm>
            <a:off x="6611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52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이상탐지·알림·결론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52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 · IsolationForest · Discord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 &amp; 동기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분석을 시작했는가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대기질 데이터를 ‘제조 공정’에 빗대어, QC·생산관리 직무 역량을 실데이터로 증명하기 위해 시작했다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40864"/>
            <a:ext cx="511149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69748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916936"/>
            <a:ext cx="429768" cy="42976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057400" y="257860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역량 입증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2057400" y="30358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QC/API 생산관리 직무 지원 — SPC·6시그마·데이터 자동화 역량을 ‘말’이 아닌 실데이터·실코드로 증명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219456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28232" y="2340864"/>
            <a:ext cx="511149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8" name="Shape 15"/>
          <p:cNvSpPr/>
          <p:nvPr/>
        </p:nvSpPr>
        <p:spPr>
          <a:xfrm>
            <a:off x="6583680" y="269748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916936"/>
            <a:ext cx="429768" cy="4297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680960" y="257860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메타포로 끝까지 구현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7680960" y="30358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생산 데이터가 없어도, 공개 대기질 API를 공정·품질특성·규격에 매핑해 공정관리 기법을 완주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40080" y="411480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04672" y="4261104"/>
            <a:ext cx="511149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4" name="Shape 20"/>
          <p:cNvSpPr/>
          <p:nvPr/>
        </p:nvSpPr>
        <p:spPr>
          <a:xfrm>
            <a:off x="960120" y="461772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4837176"/>
            <a:ext cx="429768" cy="4297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057400" y="44988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문제의식</a:t>
            </a:r>
            <a:endParaRPr lang="en-US" sz="1650" dirty="0"/>
          </a:p>
        </p:txBody>
      </p:sp>
      <p:sp>
        <p:nvSpPr>
          <p:cNvPr id="27" name="Text 22"/>
          <p:cNvSpPr/>
          <p:nvPr/>
        </p:nvSpPr>
        <p:spPr>
          <a:xfrm>
            <a:off x="2057400" y="49560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 청주 산단(오창·오송 등) 인근 대기질이 거주지보다 실제로 나쁜지, 데이터로 직접 검증하고 싶었다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63640" y="411480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428232" y="4261104"/>
            <a:ext cx="5111496" cy="64008"/>
          </a:xfrm>
          <a:prstGeom prst="rect">
            <a:avLst/>
          </a:prstGeom>
          <a:solidFill>
            <a:srgbClr val="6D4AE0"/>
          </a:solidFill>
          <a:ln/>
        </p:spPr>
      </p:sp>
      <p:sp>
        <p:nvSpPr>
          <p:cNvPr id="30" name="Shape 25"/>
          <p:cNvSpPr/>
          <p:nvPr/>
        </p:nvSpPr>
        <p:spPr>
          <a:xfrm>
            <a:off x="6583680" y="461772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4837176"/>
            <a:ext cx="429768" cy="4297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680960" y="44988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파이프라인 경험</a:t>
            </a:r>
            <a:endParaRPr lang="en-US" sz="1650" dirty="0"/>
          </a:p>
        </p:txBody>
      </p:sp>
      <p:sp>
        <p:nvSpPr>
          <p:cNvPr id="33" name="Text 27"/>
          <p:cNvSpPr/>
          <p:nvPr/>
        </p:nvSpPr>
        <p:spPr>
          <a:xfrm>
            <a:off x="7680960" y="49560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수집→분석→알림까지 무중단·무비용으로 돌아가는 엔드투엔드 데이터 파이프라인을 직접 설계·운영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· 분석 배경 · 분석 목표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대기질을 제조 공정에 빗대어 SPC로 상시 감시 — 산단 인근이 거주지보다 나쁜가?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8658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54203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4592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주제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5097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측정소=공정 라인, 오염물질=품질특성(CQA), 환경기준=규격(USL)으로 매핑한 메타포 프로젝트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34340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07992" y="238658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254203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4924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목표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65429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vs 거주지 평균차 통계 검정, 공정능력(Cpk) 산출, 우선 관리 지표 도출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804672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238658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542032"/>
            <a:ext cx="566928" cy="56692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05256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35761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상시 감시 필요. 단순 농도 비교만으로는 ‘관리 우선순위’ 판단이 어려움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8132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1440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인근 대기질은 거주지보다 통계적으로 유의하게 나쁜가?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지표·어느 측정소를 우선 관리해야 하는가?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626364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617720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10488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결과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653796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PM2.5·PM10 전 측정소 ‘불량 위험’ 식별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 46% → 2% 개선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대상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6종 · 측정소 5곳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(품질특성 CQA)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초미세먼지 · 우선관리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42032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11" name="Text 9"/>
          <p:cNvSpPr/>
          <p:nvPr/>
        </p:nvSpPr>
        <p:spPr>
          <a:xfrm>
            <a:off x="2542032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PM10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633472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미세먼지 · 우선관리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43984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43984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NO₂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35424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이산화질소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O₃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42032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0" name="Text 18"/>
          <p:cNvSpPr/>
          <p:nvPr/>
        </p:nvSpPr>
        <p:spPr>
          <a:xfrm>
            <a:off x="2542032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SO₂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633472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아황산가스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43984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3" name="Text 21"/>
          <p:cNvSpPr/>
          <p:nvPr/>
        </p:nvSpPr>
        <p:spPr>
          <a:xfrm>
            <a:off x="4443984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35424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일산화탄소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4526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 = 대기환경보전법 환경기준 · LSL = 0 (낮을수록 좋음)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3796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(공정 라인)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196596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02552" y="2112264"/>
            <a:ext cx="48371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29" name="Text 27"/>
          <p:cNvSpPr/>
          <p:nvPr/>
        </p:nvSpPr>
        <p:spPr>
          <a:xfrm>
            <a:off x="6812280" y="2212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· 4곳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2606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오창(반도체) · 복대 · 봉명(SK하이닉스 청주캠퍼스 권역) · 오송(바이오)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37960" y="347472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02552" y="3621024"/>
            <a:ext cx="4837176" cy="64008"/>
          </a:xfrm>
          <a:prstGeom prst="rect">
            <a:avLst/>
          </a:prstGeom>
          <a:solidFill>
            <a:srgbClr val="9AA5B1"/>
          </a:solidFill>
          <a:ln/>
        </p:spPr>
      </p:sp>
      <p:sp>
        <p:nvSpPr>
          <p:cNvPr id="33" name="Text 31"/>
          <p:cNvSpPr/>
          <p:nvPr/>
        </p:nvSpPr>
        <p:spPr>
          <a:xfrm>
            <a:off x="6812280" y="3721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 · 1곳 (대조군)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1228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용암동 — 거주지 기준선. 산단 영향군과의 평균차를 Welch t-test로 검정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EF1FB"/>
          </a:solidFill>
          <a:ln/>
        </p:spPr>
      </p:sp>
      <p:sp>
        <p:nvSpPr>
          <p:cNvPr id="36" name="Shape 34"/>
          <p:cNvSpPr/>
          <p:nvPr/>
        </p:nvSpPr>
        <p:spPr>
          <a:xfrm>
            <a:off x="868680" y="5330952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533095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423160" y="5120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× 5측정소 = 30개 ‘공정-품질특성’ 조합을 1시간 해상도로 상시 모니터링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아키텍처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무중단 · 무비용 · 무누락 자동 파이프라인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스케줄러가 GitHub Actions를 트리거 → 수집·저장·배포·알림까지 서버리스 무중단 운영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7028" y="2514600"/>
            <a:ext cx="512064" cy="5120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2376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cron-job.org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22376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560320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2944368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1F40E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596" y="2514600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0944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980944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서버리스 수집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18888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5202936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251460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39512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에어코리아 API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239512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시간당 측정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7077456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461504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32" y="2514600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98080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SQLite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7498080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중복 안전 저장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9336024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4"/>
          <p:cNvSpPr/>
          <p:nvPr/>
        </p:nvSpPr>
        <p:spPr>
          <a:xfrm>
            <a:off x="9720072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0" y="2514600"/>
            <a:ext cx="512064" cy="51206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756648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Streamlit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9756648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 배포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6858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도구 및 방법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389120"/>
          <a:ext cx="11018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410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· 저장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requests(지수 백오프) · SQLite + SQLModel · self-healing 백필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통계 · 분석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Cp/Cpk · 관리도(I/EWMA/CUSUM) · 잔차 관리도 · WE Rules · scipy(t-test/ANOVA)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이상탐지 · 알림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scikit-learn IsolationForest · Discord Webhook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자동화 · 품질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Actions · pytest 220건 · uv · Streamlit Cloud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 성과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 무중단 · 측정소당 2,500+ 시각 누적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12,835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누적 건수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19856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0" name="Text 8"/>
          <p:cNvSpPr/>
          <p:nvPr/>
        </p:nvSpPr>
        <p:spPr>
          <a:xfrm>
            <a:off x="3419856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419856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6199632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199632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평시 24h 성공률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79408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8979408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979408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</a:t>
            </a:r>
            <a:endParaRPr lang="en-US" sz="1250" dirty="0"/>
          </a:p>
        </p:txBody>
      </p:sp>
      <p:pic>
        <p:nvPicPr>
          <p:cNvPr id="18" name="Image 0" descr="/Users/t2025-m0190/workspace/chungbuk-air-quality-monitor/build/deck/img/accum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0"/>
            <a:ext cx="6858000" cy="3224376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772400" y="292608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04672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무누락 운영의 증거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046720" y="36118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선형 누적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측정소별 그래프가 끊김 없이 직선으로 증가. 매시 자동 수집이 안정적으로 동작.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046720" y="4617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self-healing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cron 드롭 시 다음 실행이 직전 24h 갭을 멱등 복구해 결측을 메움.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점검 — 전처리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오염물질 분포 · 결측/이상치 확인</a:t>
            </a:r>
            <a:endParaRPr lang="en-US" sz="1300" dirty="0"/>
          </a:p>
        </p:txBody>
      </p:sp>
      <p:pic>
        <p:nvPicPr>
          <p:cNvPr id="6" name="Image 0" descr="/Users/t2025-m0190/workspace/chungbuk-air-quality-monitor/build/deck/img/box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08760"/>
            <a:ext cx="9692640" cy="448931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9436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1FB"/>
          </a:solidFill>
          <a:ln/>
        </p:spPr>
      </p:sp>
      <p:sp>
        <p:nvSpPr>
          <p:cNvPr id="8" name="Shape 5"/>
          <p:cNvSpPr/>
          <p:nvPr/>
        </p:nvSpPr>
        <p:spPr>
          <a:xfrm>
            <a:off x="841248" y="60716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6071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전처리 결과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377440" y="594360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결측 0건 · 측정값 범위 정상 — 별도 제거/대체 없이 분석 진행 (data_time/created_at 분리 기록)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(i.i.d. 가정)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0060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부적합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대기질은 강한 시계열 자기상관(PM2.5 lag-1 ACF ≈ 0.93)을 가진다.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가정 붕괴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관측치가 강하게 상관 → MR 기반 σ 과소추정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411480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협소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한계선이 좁아져 정상 변동도 이탈로 오판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89204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거짓경보 폭증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46% — 특수원인 식별 불가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0F8F6"/>
          </a:solidFill>
          <a:ln w="12700">
            <a:solidFill>
              <a:srgbClr val="B9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(자기상관 보정)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2416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E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일주기(시간대) 효과 제거 + AR(1) 잔차에 관리도를 적용해 독립성을 회복.</a:t>
            </a:r>
            <a:endParaRPr lang="en-US" sz="13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291840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8580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백색화 성공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85800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ACF 0.93 → ≈ 0, 잔차가 독립에 근접</a:t>
            </a:r>
            <a:endParaRPr lang="en-US" sz="115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069080"/>
            <a:ext cx="201168" cy="20116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685800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정상화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85800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명목 거짓경보율(0.27%) 수준으로 복원</a:t>
            </a:r>
            <a:endParaRPr lang="en-US" sz="11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846320"/>
            <a:ext cx="201168" cy="20116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85800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진짜 신호만 탐지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685800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46% → 2%, 특수원인 후보만 남김</a:t>
            </a:r>
            <a:endParaRPr lang="en-US" sz="1150" dirty="0"/>
          </a:p>
        </p:txBody>
      </p:sp>
      <p:sp>
        <p:nvSpPr>
          <p:cNvPr id="34" name="Text 29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공정능력지수 Cpk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× 오염물질 30개 조합 진단</a:t>
            </a:r>
            <a:endParaRPr lang="en-US" sz="1300" dirty="0"/>
          </a:p>
        </p:txBody>
      </p:sp>
      <p:pic>
        <p:nvPicPr>
          <p:cNvPr id="6" name="Image 0" descr="/Users/t2025-m0190/workspace/chungbuk-air-quality-monitor/build/deck/img/cpk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8840"/>
            <a:ext cx="7315200" cy="329287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532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USL=대기환경보전법 환경기준 · Cpk&lt;1.0=불량 위험 · Cpk≥1.33=양호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92440" y="1783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DEDED"/>
          </a:solidFill>
          <a:ln/>
        </p:spPr>
      </p:sp>
      <p:sp>
        <p:nvSpPr>
          <p:cNvPr id="9" name="Text 6"/>
          <p:cNvSpPr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 관리 — PM2.5 · PM10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21040" y="2450592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측정소 Cpk &lt; 1.0 ‘불량 위험’. 특히 오송읍 PM2.5 Cpk 0.28로 최저 → 1순위 관리 대상. 미세먼지가 구조적 핵심 인자.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092440" y="4069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4315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양호 — SO₂ · 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Cpk ≥ 1.2로 규격 대비 여유. Cp/Cpk·USL은 대기환경보전법 환경기준(일·연평균) 기반으로 산출.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자기상관 보정 성과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 96% 감소</a:t>
            </a:r>
            <a:endParaRPr lang="en-US" sz="1300" dirty="0"/>
          </a:p>
        </p:txBody>
      </p:sp>
      <p:pic>
        <p:nvPicPr>
          <p:cNvPr id="6" name="Image 0" descr="/Users/t2025-m0190/workspace/chungbuk-air-quality-monitor/build/deck/img/residual_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89520" cy="27507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73736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549640" y="190195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49640" y="2148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46%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549640" y="29260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거짓경보율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549640" y="334670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49640" y="370332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0F8F6"/>
          </a:solidFill>
          <a:ln/>
        </p:spPr>
      </p:sp>
      <p:sp>
        <p:nvSpPr>
          <p:cNvPr id="13" name="Text 10"/>
          <p:cNvSpPr/>
          <p:nvPr/>
        </p:nvSpPr>
        <p:spPr>
          <a:xfrm>
            <a:off x="8549640" y="38679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49640" y="4114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5000" dirty="0"/>
          </a:p>
        </p:txBody>
      </p:sp>
      <p:sp>
        <p:nvSpPr>
          <p:cNvPr id="15" name="Text 12"/>
          <p:cNvSpPr/>
          <p:nvPr/>
        </p:nvSpPr>
        <p:spPr>
          <a:xfrm>
            <a:off x="8549640" y="48920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거짓경보율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8521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F40E6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85216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|   원시 관리도의 이탈은 대부분 자기상관에 의한 거짓경보 — 잔차에 남는 이탈만이 진짜 특수원인 후보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단지 비교 검정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vs 거주지 (Welch t-test)</a:t>
            </a:r>
            <a:endParaRPr lang="en-US" sz="1300" dirty="0"/>
          </a:p>
        </p:txBody>
      </p:sp>
      <p:pic>
        <p:nvPicPr>
          <p:cNvPr id="6" name="Image 0" descr="/Users/t2025-m0190/workspace/chungbuk-air-quality-monitor/build/deck/img/group_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6400800" cy="3584448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8308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9244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89520" y="2377440"/>
            <a:ext cx="4114800" cy="0"/>
          </a:xfrm>
          <a:prstGeom prst="line">
            <a:avLst/>
          </a:prstGeom>
          <a:noFill/>
          <a:ln w="12700">
            <a:solidFill>
              <a:srgbClr val="DCE3F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589520" y="2560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589520" y="288036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“산단 영향군의 PM2.5 평균이 거주지보다 높을 것이다”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589520" y="370332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Welch t-test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두 군 평균차의 통계적 유의성을 검정. Cohen’s d로 효과크기를 함께 산출해 실질적 차이를 확인.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589520" y="5074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4" name="Text 10"/>
          <p:cNvSpPr/>
          <p:nvPr/>
        </p:nvSpPr>
        <p:spPr>
          <a:xfrm>
            <a:off x="758952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검정 자동화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7589520" y="559612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daily 루프가 MD·Word 리포트 자동 생성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 탐지 자동화 &amp; 실시간 알림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 · IsolationForest · Discord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3794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5146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097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5097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95097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추세·쏠림·허깅·지그재그 등 8개 비랜덤 패턴 자동 판정. 3σ 이탈만 보던 한계를 넘어 특수원인 신호를 조기 포착.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7992" y="183794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5" name="Shape 12"/>
          <p:cNvSpPr/>
          <p:nvPr/>
        </p:nvSpPr>
        <p:spPr>
          <a:xfrm>
            <a:off x="463600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51460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5429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65429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IsolationForest</a:t>
            </a:r>
            <a:endParaRPr lang="en-US" sz="1650" dirty="0"/>
          </a:p>
        </p:txBody>
      </p:sp>
      <p:sp>
        <p:nvSpPr>
          <p:cNvPr id="19" name="Text 15"/>
          <p:cNvSpPr/>
          <p:nvPr/>
        </p:nvSpPr>
        <p:spPr>
          <a:xfrm>
            <a:off x="465429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오염물질을 동시에 보는 다변량 이상 탐지. 단변량 관리도가 놓치는 복합 이상 패턴을 비지도 학습으로 식별.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04672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183794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2" name="Shape 18"/>
          <p:cNvSpPr/>
          <p:nvPr/>
        </p:nvSpPr>
        <p:spPr>
          <a:xfrm>
            <a:off x="833932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51460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761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B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35761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Discord 실시간 알림</a:t>
            </a:r>
            <a:endParaRPr lang="en-US" sz="1650" dirty="0"/>
          </a:p>
        </p:txBody>
      </p:sp>
      <p:sp>
        <p:nvSpPr>
          <p:cNvPr id="26" name="Text 21"/>
          <p:cNvSpPr/>
          <p:nvPr/>
        </p:nvSpPr>
        <p:spPr>
          <a:xfrm>
            <a:off x="835761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 수집 후 Cpk 미달·룰 위반을 점검해 Webhook 전송. 위험/주의/정상 색상 코드로 즉시 인지.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40080" y="55778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1FB"/>
          </a:solidFill>
          <a:ln/>
        </p:spPr>
      </p:sp>
      <p:sp>
        <p:nvSpPr>
          <p:cNvPr id="28" name="Shape 23"/>
          <p:cNvSpPr/>
          <p:nvPr/>
        </p:nvSpPr>
        <p:spPr>
          <a:xfrm>
            <a:off x="841248" y="5733288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29" name="Text 24"/>
          <p:cNvSpPr/>
          <p:nvPr/>
        </p:nvSpPr>
        <p:spPr>
          <a:xfrm>
            <a:off x="841248" y="57332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Control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2377440" y="5577840"/>
            <a:ext cx="9144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DMAIC의 Control 단계 — 탐지에서 알림까지 완전 자동화로 지속 모니터링 체계 완성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4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603504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&amp; 입증 역량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6" name="Shape 3"/>
          <p:cNvSpPr/>
          <p:nvPr/>
        </p:nvSpPr>
        <p:spPr>
          <a:xfrm>
            <a:off x="868680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12,835건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 무중단 수집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19856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0" name="Shape 7"/>
          <p:cNvSpPr/>
          <p:nvPr/>
        </p:nvSpPr>
        <p:spPr>
          <a:xfrm>
            <a:off x="3648456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1" name="Text 8"/>
          <p:cNvSpPr/>
          <p:nvPr/>
        </p:nvSpPr>
        <p:spPr>
          <a:xfrm>
            <a:off x="3465576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46% → 2%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3511296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 거짓경보율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99632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4" name="Shape 11"/>
          <p:cNvSpPr/>
          <p:nvPr/>
        </p:nvSpPr>
        <p:spPr>
          <a:xfrm>
            <a:off x="6428232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5" name="Text 12"/>
          <p:cNvSpPr/>
          <p:nvPr/>
        </p:nvSpPr>
        <p:spPr>
          <a:xfrm>
            <a:off x="6245352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+ 다변량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291072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 · IForest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979408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8" name="Shape 15"/>
          <p:cNvSpPr/>
          <p:nvPr/>
        </p:nvSpPr>
        <p:spPr>
          <a:xfrm>
            <a:off x="9208008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5128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 / 220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070848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 통과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0080" y="4160520"/>
            <a:ext cx="10927080" cy="0"/>
          </a:xfrm>
          <a:prstGeom prst="line">
            <a:avLst/>
          </a:prstGeom>
          <a:noFill/>
          <a:ln w="12700">
            <a:solidFill>
              <a:srgbClr val="5A73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입증한 역량</a:t>
            </a:r>
            <a:endParaRPr lang="en-US" sz="14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00600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515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· 6시그마 DMAIC 실데이터 적용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10515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Cp/Cpk·관리도·가설검정을 직접 구현</a:t>
            </a:r>
            <a:endParaRPr lang="en-US" sz="11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4800600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7091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파이프라인 무중단 자동화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47091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Actions로 수집→분석→알림 무인 운영</a:t>
            </a:r>
            <a:endParaRPr lang="en-US" sz="11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4800600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83667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엄밀성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83667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자기상관 보정으로 거짓경보를 정량 개선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github.com/robinho0329/chungbuk-air-quality-monitor   ·   라이브 대시보드 6페이지 운영 중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충북권 산업단지 대기질 SPC 모니터링</dc:title>
  <dc:subject>PptxGenJS Presentation</dc:subject>
  <dc:creator>유호빈</dc:creator>
  <cp:lastModifiedBy>유호빈</cp:lastModifiedBy>
  <cp:revision>1</cp:revision>
  <dcterms:created xsi:type="dcterms:W3CDTF">2026-06-16T12:54:04Z</dcterms:created>
  <dcterms:modified xsi:type="dcterms:W3CDTF">2026-06-16T12:54:04Z</dcterms:modified>
</cp:coreProperties>
</file>