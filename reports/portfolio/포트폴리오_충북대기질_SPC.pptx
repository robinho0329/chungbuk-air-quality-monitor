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Shape 1"/>
          <p:cNvSpPr/>
          <p:nvPr/>
        </p:nvSpPr>
        <p:spPr>
          <a:xfrm>
            <a:off x="3246120" y="0"/>
            <a:ext cx="73152" cy="6858000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8600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AIR QUALITY · SPC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749040" y="1417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PORTFOLIO  |  품질데이터 · SPC 엔지니어 (QC · API 생산관리)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749040" y="19659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충북권 산업단지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 SPC 모니터링 시스템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767328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공정관리(SPC) · 6시그마 DMAIC · 데이터 파이프라인 자동화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767328" y="4709160"/>
            <a:ext cx="7680960" cy="0"/>
          </a:xfrm>
          <a:prstGeom prst="line">
            <a:avLst/>
          </a:prstGeom>
          <a:noFill/>
          <a:ln w="19050">
            <a:solidFill>
              <a:srgbClr val="DCE3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67328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기간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2026.02.28 ~ 2026.06.23</a:t>
            </a:r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누적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13,685건 · 측정소 5곳 · 1시간 해상도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767328" y="553212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2" name="Text 9"/>
          <p:cNvSpPr/>
          <p:nvPr/>
        </p:nvSpPr>
        <p:spPr>
          <a:xfrm>
            <a:off x="3767328" y="55321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유호빈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212080" y="553212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 ·  github.com/robinho0329/chungbuk-air-quality-monitor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HOOK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5곳, PM2.5 공정능력이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‘규격 미달’이었다.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&lt; 1.0</a:t>
            </a:r>
            <a:pPr indent="0" marL="0">
              <a:buNone/>
            </a:pPr>
            <a:r>
              <a:rPr lang="en-US" sz="230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—  그런데 진짜 문제는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‘위치’가 아니었다.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41248" y="4526280"/>
            <a:ext cx="6858000" cy="0"/>
          </a:xfrm>
          <a:prstGeom prst="line">
            <a:avLst/>
          </a:prstGeom>
          <a:noFill/>
          <a:ln w="19050">
            <a:solidFill>
              <a:srgbClr val="3A47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7091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EB9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변동의 95%는 측정소(위치)가 아니라 시간·기상에서 왔다.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EB9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관리할 산포와 그냥 둘 변동을 통계로 가르는 것 — 그것이 이 프로젝트의 핵심이자, 내가 증명한 QC 역량이다.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097280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607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 흐름으로 본 프로젝트 구성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37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vs 거주지, SPC 상시 감시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37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지표·측정소, 무중단 수집 아키텍처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737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수집·점검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108일 누적, 결측·이상치 점검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3" name="Text 21"/>
          <p:cNvSpPr/>
          <p:nvPr/>
        </p:nvSpPr>
        <p:spPr>
          <a:xfrm>
            <a:off x="6611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52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52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52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52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 · 잔차 관리도 · 단지 비교 검정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33" name="Text 31"/>
          <p:cNvSpPr/>
          <p:nvPr/>
        </p:nvSpPr>
        <p:spPr>
          <a:xfrm>
            <a:off x="6611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52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이상탐지·알림 · 현업 전이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52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Rules·IForest·Discord → GMP 품질관리 전이·결론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 &amp; 동기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분석을 시작했는가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대기질 데이터를 ‘제조 공정’에 빗대어, QC·생산관리 직무 역량을 실데이터로 증명하기 위해 시작했다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40864"/>
            <a:ext cx="511149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916936"/>
            <a:ext cx="429768" cy="4297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05740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역량 입증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205740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QC/API 생산관리 직무 지원 — SPC·6시그마·데이터 자동화 역량을 ‘말’이 아닌 실데이터·실코드로 증명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28232" y="2340864"/>
            <a:ext cx="511149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916936"/>
            <a:ext cx="429768" cy="4297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8096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메타포로 끝까지 구현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768096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생산 데이터가 없어도, 공개 대기질 API를 공정·품질특성·규격에 매핑해 공정관리 기법을 완주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04672" y="4261104"/>
            <a:ext cx="511149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4" name="Shape 20"/>
          <p:cNvSpPr/>
          <p:nvPr/>
        </p:nvSpPr>
        <p:spPr>
          <a:xfrm>
            <a:off x="96012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4837176"/>
            <a:ext cx="429768" cy="4297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05740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문제의식</a:t>
            </a:r>
            <a:endParaRPr lang="en-US" sz="1650" dirty="0"/>
          </a:p>
        </p:txBody>
      </p:sp>
      <p:sp>
        <p:nvSpPr>
          <p:cNvPr id="27" name="Text 22"/>
          <p:cNvSpPr/>
          <p:nvPr/>
        </p:nvSpPr>
        <p:spPr>
          <a:xfrm>
            <a:off x="205740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 청주 산단(오창·오송 등) 인근 대기질이 거주지보다 실제로 나쁜지, 데이터로 직접 검증하고 싶었다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6364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428232" y="4261104"/>
            <a:ext cx="5111496" cy="64008"/>
          </a:xfrm>
          <a:prstGeom prst="rect">
            <a:avLst/>
          </a:prstGeom>
          <a:solidFill>
            <a:srgbClr val="6D4AE0"/>
          </a:solidFill>
          <a:ln/>
        </p:spPr>
      </p:sp>
      <p:sp>
        <p:nvSpPr>
          <p:cNvPr id="30" name="Shape 25"/>
          <p:cNvSpPr/>
          <p:nvPr/>
        </p:nvSpPr>
        <p:spPr>
          <a:xfrm>
            <a:off x="658368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837176"/>
            <a:ext cx="429768" cy="4297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68096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파이프라인 경험</a:t>
            </a:r>
            <a:endParaRPr lang="en-US" sz="1650" dirty="0"/>
          </a:p>
        </p:txBody>
      </p:sp>
      <p:sp>
        <p:nvSpPr>
          <p:cNvPr id="33" name="Text 27"/>
          <p:cNvSpPr/>
          <p:nvPr/>
        </p:nvSpPr>
        <p:spPr>
          <a:xfrm>
            <a:off x="768096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수집→분석→알림까지 무중단·무비용으로 돌아가는 엔드투엔드 데이터 파이프라인을 직접 설계·운영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· 분석 배경 · 분석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대기질이 거주지보다 통계적으로 나쁜지, 어느 지표를 우선 관리해야 하는지 규명한다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8658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54203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4592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주제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5097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측정소=공정 라인, 오염물질=품질특성(CQA), 환경기준=규격(USL)으로 매핑한 메타포 프로젝트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4340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07992" y="238658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54203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4924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5429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평균차 통계 검정, 공정능력(Cpk) 산출, 우선 관리 지표 도출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4672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238658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54203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5256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5761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상시 감시 필요. 단순 농도 비교만으로는 ‘관리 우선순위’ 판단이 어려움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대기질은 거주지보다 통계적으로 유의하게 나쁜가?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지표·어느 측정소를 우선 관리해야 하는가?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626364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617720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0488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결과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653796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PM2.5·PM10 전 측정소 ‘불량 위험’ 식별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44% → 2% 개선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대상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6종 · 측정소 5곳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(품질특성 CQA)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초미세먼지 · 우선관리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PM10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33472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미세먼지 · 우선관리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43984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43984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35424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이산화질소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O₃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42032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0" name="Text 18"/>
          <p:cNvSpPr/>
          <p:nvPr/>
        </p:nvSpPr>
        <p:spPr>
          <a:xfrm>
            <a:off x="2542032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SO₂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33472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아황산가스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43984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3" name="Text 21"/>
          <p:cNvSpPr/>
          <p:nvPr/>
        </p:nvSpPr>
        <p:spPr>
          <a:xfrm>
            <a:off x="4443984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35424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일산화탄소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45262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환경기준 · LSL=0 (단측 규격). 실제 배치공정 양측 규격(USL+LSL)에도 동일 Cpk 산식 적용 가능.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(공정 라인)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196596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02552" y="2112264"/>
            <a:ext cx="48371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· 4곳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오창(반도체) · 복대 · 봉명(SK하이닉스 청주캠퍼스 권역) · 오송(바이오)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347472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02552" y="3621024"/>
            <a:ext cx="4837176" cy="64008"/>
          </a:xfrm>
          <a:prstGeom prst="rect">
            <a:avLst/>
          </a:prstGeom>
          <a:solidFill>
            <a:srgbClr val="9AA5B1"/>
          </a:solidFill>
          <a:ln/>
        </p:spPr>
      </p:sp>
      <p:sp>
        <p:nvSpPr>
          <p:cNvPr id="33" name="Text 31"/>
          <p:cNvSpPr/>
          <p:nvPr/>
        </p:nvSpPr>
        <p:spPr>
          <a:xfrm>
            <a:off x="6812280" y="3721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 · 1곳 (대조군)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1228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용암동 — 거주지 기준선. 산단 영향군과의 평균차를 Welch t-test로 검정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EF1F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8680" y="5330952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3309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5120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× 5측정소 = 30개 ‘공정-품질특성’ 조합을 1시간 해상도로 상시 모니터링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아키텍처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· 무비용 · 무누락 자동 파이프라인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스케줄러가 GitHub Actions를 트리거 → 수집·저장·배포·알림까지 서버리스 무중단 운영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514600"/>
            <a:ext cx="512064" cy="5120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376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cron-job.org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22376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2944368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1F40E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514600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0944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980944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서버리스 수집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18888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5202936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251460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39512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에어코리아 API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239512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시간당 측정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077456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461504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2514600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98080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7498080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안전 저장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4"/>
          <p:cNvSpPr/>
          <p:nvPr/>
        </p:nvSpPr>
        <p:spPr>
          <a:xfrm>
            <a:off x="9720072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2514600"/>
            <a:ext cx="512064" cy="51206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756648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9756648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 배포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858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도구 및 방법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389120"/>
          <a:ext cx="11018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41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· 저장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requests(지수 백오프) · SQLite + SQLModel · self-healing 백필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 · 분석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Cp/Cpk · 관리도(I/EWMA/CUSUM) · 잔차 관리도 · WE Rules · scipy(t-test/ANOVA)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이상탐지 · 알림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IsolationForest · Discord Webhook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자동화 · 품질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Actions · pytest 220건 · uv · Streamlit Cloud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 성과 &amp; 농도 추세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116일 무중단 13,685건 · PM2.5 일별 추세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13,685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누적 건수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9856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0" name="Text 8"/>
          <p:cNvSpPr/>
          <p:nvPr/>
        </p:nvSpPr>
        <p:spPr>
          <a:xfrm>
            <a:off x="3419856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116일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19856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 무중단 수집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15일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99632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USL 초과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79408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8979408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979408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</a:t>
            </a:r>
            <a:endParaRPr lang="en-US" sz="1250" dirty="0"/>
          </a:p>
        </p:txBody>
      </p:sp>
      <p:pic>
        <p:nvPicPr>
          <p:cNvPr id="18" name="Image 0" descr="C:\Users\xcv54\workspace\Sideproject_260526\scripts\portfolio_deck\img\ts_pm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0"/>
            <a:ext cx="7132320" cy="3268281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955280" y="2926080"/>
            <a:ext cx="37490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수집을 넘어 ‘신호’까지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229600" y="361188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&gt; 거주지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산단 영향군 일평균이 대부분 거주지보다 높고, 환경기준(USL 35)을 116일 중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15일 초과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self-healing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cron 드롭이 나도 다음 실행이 직전 24h 갭을 멱등 복구해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데이터는 무결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점검 — 전처리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오염물질 분포 · 결측/이상치 확인</a:t>
            </a:r>
            <a:endParaRPr lang="en-US" sz="1300" dirty="0"/>
          </a:p>
        </p:txBody>
      </p:sp>
      <p:pic>
        <p:nvPicPr>
          <p:cNvPr id="6" name="Image 0" descr="C:\Users\xcv54\workspace\Sideproject_260526\scripts\portfolio_deck\img\box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08760"/>
            <a:ext cx="9692640" cy="447746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9436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41248" y="60716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6071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결과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77440" y="594360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결측 0건 · 측정값 범위 정상 — 측정시각(data_time)·수집시각(created_at) 분리 기록 = audit trail·ALCOA+ 데이터 무결성 원칙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(i.i.d. 가정)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0060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부적합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대기질은 강한 시계열 자기상관(PM2.5 lag-1 ACF ≈ 0.93)을 가진다.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가정 붕괴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관측치가 강하게 상관 → MR 기반 σ 과소추정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411480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협소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한계선이 좁아져 정상 변동도 이탈로 오판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89204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거짓경보 폭증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44% — 특수원인 식별 불가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0F8F6"/>
          </a:solidFill>
          <a:ln w="12700">
            <a:solidFill>
              <a:srgbClr val="B9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(자기상관 보정)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2416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일주기(시간대) 효과 제거 + AR(1) 잔차에 관리도를 적용해 독립성을 회복.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8580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백색화 성공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85800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ACF 0.93 → ≈0(−0.03), 잔차가 독립에 근접</a:t>
            </a:r>
            <a:endParaRPr lang="en-US" sz="115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85800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정상화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85800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명목 거짓경보율(0.27%) 수준으로 복원</a:t>
            </a:r>
            <a:endParaRPr lang="en-US" sz="11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85800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 신호만 탐지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8580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44% → 2%, 특수원인 후보만 남김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공정능력지수 Cpk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× 오염물질 30개 조합 진단</a:t>
            </a:r>
            <a:endParaRPr lang="en-US" sz="1300" dirty="0"/>
          </a:p>
        </p:txBody>
      </p:sp>
      <p:pic>
        <p:nvPicPr>
          <p:cNvPr id="6" name="Image 0" descr="C:\Users\xcv54\workspace\Sideproject_260526\scripts\portfolio_deck\img\cpk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48840"/>
            <a:ext cx="7040880" cy="31676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5321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일평균 환경기준(PM2.5 35㎍/㎥ 등) · LSL=0 · Cpk&lt;1.0=불량 위험 · Cpk≥1.33=양호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092440" y="1783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DEDED"/>
          </a:solidFill>
          <a:ln/>
        </p:spPr>
      </p:sp>
      <p:sp>
        <p:nvSpPr>
          <p:cNvPr id="9" name="Text 6"/>
          <p:cNvSpPr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관리 — PM2.5 · PM10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21040" y="2450592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측정소 Cpk &lt; 1.0 ‘불량 위험’. 특히 오송읍 PM2.5 Cpk 0.29로 최저 → 1순위 관리 대상. 미세먼지가 구조적 핵심 인자.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92440" y="4069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4315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양호 — SO₂ · 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≥ 1.2로 규격 대비 여유. Cp/Cpk·USL은 대기환경보전법 환경기준(일·연평균) 기반으로 산출.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자기상관 보정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거짓경보율 44% → 2% 정상화</a:t>
            </a:r>
            <a:endParaRPr lang="en-US" sz="1300" dirty="0"/>
          </a:p>
        </p:txBody>
      </p:sp>
      <p:pic>
        <p:nvPicPr>
          <p:cNvPr id="6" name="Image 0" descr="C:\Users\xcv54\workspace\Sideproject_260526\scripts\portfolio_deck\img\residual_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89520" cy="27507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73736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549640" y="190195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49640" y="2148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44%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549640" y="29260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거짓경보율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49640" y="334670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49640" y="370332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0F8F6"/>
          </a:solidFill>
          <a:ln/>
        </p:spPr>
      </p:sp>
      <p:sp>
        <p:nvSpPr>
          <p:cNvPr id="13" name="Text 10"/>
          <p:cNvSpPr/>
          <p:nvPr/>
        </p:nvSpPr>
        <p:spPr>
          <a:xfrm>
            <a:off x="8549640" y="38679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4114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5000" dirty="0"/>
          </a:p>
        </p:txBody>
      </p:sp>
      <p:sp>
        <p:nvSpPr>
          <p:cNvPr id="15" name="Text 12"/>
          <p:cNvSpPr/>
          <p:nvPr/>
        </p:nvSpPr>
        <p:spPr>
          <a:xfrm>
            <a:off x="8549640" y="48920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거짓경보율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8521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F40E6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85216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|   원시 관리도의 이탈은 대부분 자기상관에 의한 거짓경보 — 잔차에 남는 이탈만이 진짜 특수원인 후보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단지 비교 검정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(Welch t-test)</a:t>
            </a:r>
            <a:endParaRPr lang="en-US" sz="1300" dirty="0"/>
          </a:p>
        </p:txBody>
      </p:sp>
      <p:pic>
        <p:nvPicPr>
          <p:cNvPr id="6" name="Image 0" descr="C:\Users\xcv54\workspace\Sideproject_260526\scripts\portfolio_deck\img\group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400800" cy="35844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8064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전체 누적 13,685건. PM2.5 결측 제외 측정치로 산단 4측정소(합산) vs 거주지 1측정소를 Welch t-test 비교.</a:t>
            </a:r>
            <a:endParaRPr lang="en-US" sz="9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8308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092440" y="17830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7589520" y="2377440"/>
            <a:ext cx="4114800" cy="0"/>
          </a:xfrm>
          <a:prstGeom prst="line">
            <a:avLst/>
          </a:prstGeom>
          <a:noFill/>
          <a:ln w="12700">
            <a:solidFill>
              <a:srgbClr val="DCE3F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589520" y="2560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589520" y="288036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“산단 영향군의 PM2.5 평균이 거주지보다 높을 것이다”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589520" y="370332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Welch t-test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두 군 평균차의 통계적 유의성을 검정. Cohen’s d로 효과크기를 함께 산출해 실질적 차이를 확인.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589520" y="507492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5" name="Text 11"/>
          <p:cNvSpPr/>
          <p:nvPr/>
        </p:nvSpPr>
        <p:spPr>
          <a:xfrm>
            <a:off x="7589520" y="5074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검정 자동화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589520" y="559612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daily 루프가 MD·Word 리포트 자동 생성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탐지 자동화 &amp; 실시간 알림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 · IsolationForest · Discord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3794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514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5097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95097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추세·쏠림·허깅·지그재그 등 8개 비랜덤 패턴 자동 판정. 3σ 이탈만 보던 한계를 넘어 특수원인 신호를 조기 포착.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7992" y="183794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463600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5146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5429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65429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IsolationForest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465429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오염물질을 동시에 보는 다변량 이상 탐지. 단변량 관리도가 놓치는 복합 이상 패턴을 비지도 학습으로 식별.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4672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183794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2" name="Shape 18"/>
          <p:cNvSpPr/>
          <p:nvPr/>
        </p:nvSpPr>
        <p:spPr>
          <a:xfrm>
            <a:off x="833932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51460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B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35761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Discord 실시간 알림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835761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 수집 후 Cpk 미달·룰 위반을 점검해 Webhook 전송. 위험/주의/정상 색상 코드로 즉시 인지.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55778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41248" y="5733288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29" name="Text 24"/>
          <p:cNvSpPr/>
          <p:nvPr/>
        </p:nvSpPr>
        <p:spPr>
          <a:xfrm>
            <a:off x="841248" y="57332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Control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2377440" y="5577840"/>
            <a:ext cx="9144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DMAIC의 Control 단계 — 탐지에서 알림까지 완전 자동화로 지속 모니터링 체계 완성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현업 전이 — GMP · 품질관리로의 확장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역량이 실제 제조·품질 업무로 어떻게 이어지는가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대기질로 검증한 SPC·통계·자동화 역량은 GMP 환경의 공정능력·일탈관리·밸리데이션으로 그대로 전이된다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69494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 프로젝트에서 구현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GMP · 품질관리 현업 적용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 / Cpk 공정능력 산출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공정밸리데이션(PPQ) 공정능력 평가 · 규격(spec) 대비 여유 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관리도 + Western Electric Rules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 모니터링 · 일탈(deviation)·OOT 조기 탐지 · CAPA 연계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 보정 잔차 관리도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 있는 연속공정 변수의 올바른 관리한계 설정 (거짓경보 억제)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Welch t-test · ANOVA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배치 간·라인 간 비교 · 동등성은 TOST로 확장(p·Cohen’s d 산출 완료, 임계 ±δ만 추가)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IsolationForest 다변량 탐지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다변량 공정이상(MSPC) 탐지 · OOS/OOT 조사 트리거 · 원인변수 스크리닝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수집→분석→알림 자동화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MES / LIMS 품질데이터 모니터링 · ALCOA+ · Part 11 audit trail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603504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EE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" y="6163056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6163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생산관리 확장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560320" y="6035040"/>
            <a:ext cx="9006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연속공정 SPC를 배치공정으로 확장 — 골든배치 대비 Mahalanobis 거리 · 배치 간 변동 ANOVA/혼합효과모형 · 수율 모니터링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49808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1323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&amp; 입증 역량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6" name="Shape 3"/>
          <p:cNvSpPr/>
          <p:nvPr/>
        </p:nvSpPr>
        <p:spPr>
          <a:xfrm>
            <a:off x="868680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13,685건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116일 무중단 수집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9856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0" name="Shape 7"/>
          <p:cNvSpPr/>
          <p:nvPr/>
        </p:nvSpPr>
        <p:spPr>
          <a:xfrm>
            <a:off x="3648456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1" name="Text 8"/>
          <p:cNvSpPr/>
          <p:nvPr/>
        </p:nvSpPr>
        <p:spPr>
          <a:xfrm>
            <a:off x="3465576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44% → 2%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511296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 거짓경보율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99632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4" name="Shape 11"/>
          <p:cNvSpPr/>
          <p:nvPr/>
        </p:nvSpPr>
        <p:spPr>
          <a:xfrm>
            <a:off x="6428232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5" name="Text 12"/>
          <p:cNvSpPr/>
          <p:nvPr/>
        </p:nvSpPr>
        <p:spPr>
          <a:xfrm>
            <a:off x="6245352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+ 다변량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291072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IForest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79408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8" name="Shape 15"/>
          <p:cNvSpPr/>
          <p:nvPr/>
        </p:nvSpPr>
        <p:spPr>
          <a:xfrm>
            <a:off x="9208008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5128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 / 220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070848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 통과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160520"/>
            <a:ext cx="10927080" cy="0"/>
          </a:xfrm>
          <a:prstGeom prst="line">
            <a:avLst/>
          </a:prstGeom>
          <a:noFill/>
          <a:ln w="12700">
            <a:solidFill>
              <a:srgbClr val="5A73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입증한 역량</a:t>
            </a:r>
            <a:endParaRPr lang="en-US" sz="14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00600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515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· 6시그마 DMAIC 실데이터 적용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10515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Cp/Cpk·관리도·가설검정을 직접 구현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800600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091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파이프라인 무중단 자동화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47091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Actions로 수집→분석→알림 무인 운영</a:t>
            </a:r>
            <a:endParaRPr lang="en-US" sz="11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4800600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3667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엄밀성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3667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자기상관 보정으로 거짓경보를 정량 개선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40080" y="6053328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역량은 GMP 환경의 공정능력(PPQ)·일탈관리·밸리데이션으로 그대로 전이됩니다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github.com/robinho0329/chungbuk-air-quality-monitor   ·   라이브 대시보드 6페이지 운영 중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질문 &amp;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— 면접 Q&amp;A 핵심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86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 질문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대응 요지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제조 데이터가 아니라 대기질인가?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공정과 통계 구조가 같은 ‘실시간 실데이터’라 일부러 선택. 더미는 SPC가 잡아야 할 결측·이상·드리프트가 사라져 무의미.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대기질은 통제 불가인데 Improve는?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 조작 불가가 한계. Improve를 ‘방법론 개선(잔차 보정 거짓경보 44%→2%)’ + alert/action 정책으로 매핑.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효과크기가 작은데(d≈0.2~0.3) 의미 있나?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표본 1만이라 유의는 당연. 그래서 효과크기·η²로 ‘실질 차이는 작다’를 정직히 보고 — 통계적 유의 ≠ 실질적 중요.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자기상관이 왜 그렇게 중요한가?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lag-1 ACF 0.93 → 유효표본 n_eff≈75로 명목 n의 1/27. p값이 과대평가됨. 잔차 관리도로 보정해 신호를 분리.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 차이가 작으면 결론은 뭔가?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산포의 출처를 시간·기상(공통원인)으로 분리 → ‘라인별 관리’가 아니라 ‘공통원인 관리’가 답이라는 진단.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충북권 산업단지 대기질 SPC 모니터링</dc:title>
  <dc:subject>PptxGenJS Presentation</dc:subject>
  <dc:creator>유호빈</dc:creator>
  <cp:lastModifiedBy>유호빈</cp:lastModifiedBy>
  <cp:revision>1</cp:revision>
  <dcterms:created xsi:type="dcterms:W3CDTF">2026-06-23T03:32:32Z</dcterms:created>
  <dcterms:modified xsi:type="dcterms:W3CDTF">2026-06-23T03:32:32Z</dcterms:modified>
</cp:coreProperties>
</file>